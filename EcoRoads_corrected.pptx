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6" r:id="rId7"/>
    <p:sldId id="274" r:id="rId8"/>
    <p:sldId id="273" r:id="rId9"/>
    <p:sldId id="265" r:id="rId10"/>
    <p:sldId id="264" r:id="rId11"/>
    <p:sldId id="267" r:id="rId12"/>
    <p:sldId id="268" r:id="rId13"/>
    <p:sldId id="261" r:id="rId14"/>
    <p:sldId id="269" r:id="rId15"/>
    <p:sldId id="270" r:id="rId16"/>
    <p:sldId id="278" r:id="rId28"/>
    <p:sldId id="262" r:id="rId17"/>
    <p:sldId id="276" r:id="rId18"/>
    <p:sldId id="275" r:id="rId19"/>
    <p:sldId id="279" r:id="rId29"/>
    <p:sldId id="277" r:id="rId20"/>
    <p:sldId id="263" r:id="rId2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4F7E78E1-93B2-42F0-9278-4DC8460E15D2}">
          <p14:sldIdLst>
            <p14:sldId id="256"/>
            <p14:sldId id="257"/>
            <p14:sldId id="258"/>
            <p14:sldId id="259"/>
            <p14:sldId id="260"/>
            <p14:sldId id="266"/>
            <p14:sldId id="274"/>
            <p14:sldId id="273"/>
            <p14:sldId id="265"/>
            <p14:sldId id="264"/>
          </p14:sldIdLst>
        </p14:section>
        <p14:section name="Untitled Section" id="{1868B8A1-B2F9-43F8-9A74-3C0A71B156F0}">
          <p14:sldIdLst>
            <p14:sldId id="267"/>
            <p14:sldId id="268"/>
            <p14:sldId id="261"/>
            <p14:sldId id="269"/>
            <p14:sldId id="270"/>
            <p14:sldId id="262"/>
            <p14:sldId id="276"/>
            <p14:sldId id="275"/>
            <p14:sldId id="277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17DAF5ED-7457-4CEF-88AB-CE3D493901CD}" v="3" dt="2026-09-17T17:21:33.25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63" d="100"/>
          <a:sy n="63" d="100"/>
        </p:scale>
        <p:origin x="77" y="88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microsoft.com/office/2015/10/relationships/revisionInfo" Target="revisionInfo.xml"/>  <Relationship Id="rId28" Type="http://schemas.openxmlformats.org/officeDocument/2006/relationships/slide" Target="slides/slide21.xml"/>
  <Relationship Id="rId29" Type="http://schemas.openxmlformats.org/officeDocument/2006/relationships/slide" Target="slides/slide22.xml"/>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0843551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jpe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jp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7.png"/></Relationships>
</file>

<file path=ppt/slides/_rels/slide21.xml.rels><?xml version="1.0" encoding="UTF-8" standalone="yes"?>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502920"/>
            <a:ext cx="7406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kern="0" spc="100" dirty="0">
                <a:solidFill>
                  <a:srgbClr val="0B3D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EcoRoads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868680" y="1024128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700" b="1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AI-Powered Pothole Detection and Automated Municipal Repair Reporting System</a:t>
            </a:r>
            <a:endParaRPr lang="en-US" sz="1700" dirty="0"/>
          </a:p>
        </p:txBody>
      </p:sp>
      <p:sp>
        <p:nvSpPr>
          <p:cNvPr id="4" name="Text 2"/>
          <p:cNvSpPr/>
          <p:nvPr/>
        </p:nvSpPr>
        <p:spPr>
          <a:xfrm>
            <a:off x="868680" y="1828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CC00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</a:t>
            </a:r>
            <a:endParaRPr lang="en-US" sz="1150" dirty="0"/>
          </a:p>
        </p:txBody>
      </p:sp>
      <p:sp>
        <p:nvSpPr>
          <p:cNvPr id="5" name="Text 3"/>
          <p:cNvSpPr/>
          <p:nvPr/>
        </p:nvSpPr>
        <p:spPr>
          <a:xfrm>
            <a:off x="4160520" y="18288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kern="0" spc="100" dirty="0">
                <a:solidFill>
                  <a:srgbClr val="CC00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 Number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868680" y="2157984"/>
            <a:ext cx="219456" cy="219456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7" name="Text 5"/>
          <p:cNvSpPr/>
          <p:nvPr/>
        </p:nvSpPr>
        <p:spPr>
          <a:xfrm>
            <a:off x="868680" y="214884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216152" y="213969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Berelly Sri Charan Reddy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160520" y="2139696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23EG105J12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68680" y="2459736"/>
            <a:ext cx="219456" cy="219456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9"/>
          <p:cNvSpPr/>
          <p:nvPr/>
        </p:nvSpPr>
        <p:spPr>
          <a:xfrm>
            <a:off x="868680" y="24505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216152" y="2441448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Eeraboina Hansika Yadav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160520" y="2441448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23EG105J20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68680" y="2761488"/>
            <a:ext cx="219456" cy="219456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Text 13"/>
          <p:cNvSpPr/>
          <p:nvPr/>
        </p:nvSpPr>
        <p:spPr>
          <a:xfrm>
            <a:off x="868680" y="275234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216152" y="2743200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Paladugu Akshitha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160520" y="2743200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23EG105J47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68680" y="3063240"/>
            <a:ext cx="219456" cy="219456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7"/>
          <p:cNvSpPr/>
          <p:nvPr/>
        </p:nvSpPr>
        <p:spPr>
          <a:xfrm>
            <a:off x="868680" y="305409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1216152" y="3044952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Gunti Chinni Krishna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160520" y="3044952"/>
            <a:ext cx="1645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23EG105J27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3511296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CC00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Guided by:  </a:t>
            </a:r>
            <a:r>
              <a:rPr lang="en-US" sz="12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Mr. Sadanandam Kalvala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3840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ABSTRACT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" y="896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EcoRoads does, end to end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298448"/>
            <a:ext cx="420624" cy="420624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5" name="Image 0" descr="/home/claude/work/icons/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1144" y="1355232"/>
            <a:ext cx="307056" cy="30705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97864" y="1252728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windscreen-mounted phone streams camera, GPS and motion data to a laptop edge node.</a:t>
            </a:r>
            <a:endParaRPr lang="en-US" sz="1350" dirty="0"/>
          </a:p>
        </p:txBody>
      </p:sp>
      <p:sp>
        <p:nvSpPr>
          <p:cNvPr id="7" name="Shape 4"/>
          <p:cNvSpPr/>
          <p:nvPr/>
        </p:nvSpPr>
        <p:spPr>
          <a:xfrm>
            <a:off x="594360" y="2075688"/>
            <a:ext cx="420624" cy="420624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8" name="Image 1" descr="/home/claude/work/icons/robo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1144" y="2132472"/>
            <a:ext cx="307056" cy="30705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1197864" y="2029968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Detect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YOLOv8n detects potholes in real time on the laptop GPU; works offline and syncs later.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594360" y="2852928"/>
            <a:ext cx="420624" cy="420624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2" descr="/home/claude/work/icons/clou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1144" y="2909712"/>
            <a:ext cx="307056" cy="30705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1197864" y="2807208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Filter, De-duplicate &amp; Locate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Public-road and municipality check, DBSCAN merges duplicates, Haversine routes it to the municipality's office.</a:t>
            </a:r>
            <a:endParaRPr lang="en-US" sz="1350" dirty="0"/>
          </a:p>
        </p:txBody>
      </p:sp>
      <p:sp>
        <p:nvSpPr>
          <p:cNvPr id="13" name="Shape 8"/>
          <p:cNvSpPr/>
          <p:nvPr/>
        </p:nvSpPr>
        <p:spPr>
          <a:xfrm>
            <a:off x="594360" y="3630168"/>
            <a:ext cx="420624" cy="420624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4" name="Image 3" descr="/home/claude/work/icons/ti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1144" y="3686952"/>
            <a:ext cx="307056" cy="30705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1197864" y="3584448"/>
            <a:ext cx="309981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Auto-Report  </a:t>
            </a: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3 detections, Gemini auto-drafts the ticket for the municipality's office.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4709160" y="1298448"/>
            <a:ext cx="3840480" cy="1874520"/>
          </a:xfrm>
          <a:prstGeom prst="roundRect">
            <a:avLst>
              <a:gd name="adj" fmla="val 2927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7" name="Shape 11"/>
          <p:cNvSpPr/>
          <p:nvPr/>
        </p:nvSpPr>
        <p:spPr>
          <a:xfrm>
            <a:off x="4937760" y="1490472"/>
            <a:ext cx="502920" cy="50292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8" name="Image 4" descr="/home/claude/work/icons/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05654" y="1558366"/>
            <a:ext cx="367132" cy="367132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5577840" y="15087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Visualize</a:t>
            </a:r>
            <a:endParaRPr lang="en-US" sz="1350" dirty="0"/>
          </a:p>
        </p:txBody>
      </p:sp>
      <p:sp>
        <p:nvSpPr>
          <p:cNvPr id="20" name="Text 13"/>
          <p:cNvSpPr/>
          <p:nvPr/>
        </p:nvSpPr>
        <p:spPr>
          <a:xfrm>
            <a:off x="4937760" y="2057400"/>
            <a:ext cx="34290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OpenStreetMap dashboard per municipality: hazards, its office, tickets received, repair status.</a:t>
            </a:r>
            <a:endParaRPr lang="en-US" sz="1200" dirty="0"/>
          </a:p>
        </p:txBody>
      </p:sp>
      <p:sp>
        <p:nvSpPr>
          <p:cNvPr id="21" name="Shape 14"/>
          <p:cNvSpPr/>
          <p:nvPr/>
        </p:nvSpPr>
        <p:spPr>
          <a:xfrm>
            <a:off x="4709160" y="3291840"/>
            <a:ext cx="3840480" cy="868680"/>
          </a:xfrm>
          <a:prstGeom prst="roundRect">
            <a:avLst>
              <a:gd name="adj" fmla="val 6316"/>
            </a:avLst>
          </a:prstGeom>
          <a:solidFill>
            <a:srgbClr val="FDECE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2" name="Text 15"/>
          <p:cNvSpPr/>
          <p:nvPr/>
        </p:nvSpPr>
        <p:spPr>
          <a:xfrm>
            <a:off x="4937760" y="3383280"/>
            <a:ext cx="3337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CC000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Deployed on Render + Neon PostgreSQL; detector mAP@0.5 = 0.897 on 491 validation images.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24" name="Text 17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3840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PROBLEM STATEMENT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" y="896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municipal road maintenance falls behind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298448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481328"/>
            <a:ext cx="457200" cy="45720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work/icons/aler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4682" y="1543050"/>
            <a:ext cx="333756" cy="33375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417320" y="15087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Gaps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850392" y="2121408"/>
            <a:ext cx="91440" cy="9144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051560" y="2057400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road inspections &amp; citizen complaints are still the norm.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0392" y="2834640"/>
            <a:ext cx="91440" cy="9144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51560" y="2770632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Repairs are delayed and severity is assessed inaccurately.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50392" y="3547872"/>
            <a:ext cx="91440" cy="9144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51560" y="3483864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Resource allocation across municipal offices is inefficient.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709160" y="1298448"/>
            <a:ext cx="3840480" cy="3246120"/>
          </a:xfrm>
          <a:prstGeom prst="roundRect">
            <a:avLst>
              <a:gd name="adj" fmla="val 1690"/>
            </a:avLst>
          </a:prstGeom>
          <a:solidFill>
            <a:srgbClr val="FDECE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4937760" y="1481328"/>
            <a:ext cx="457200" cy="45720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1" descr="/home/claude/work/icons/char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9482" y="1543050"/>
            <a:ext cx="333756" cy="33375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532120" y="150876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Consequences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4965192" y="2121408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5166360" y="2057400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real-time, automated monitoring system exists.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965192" y="2834640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5166360" y="2770632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Result: more vehicle damage and traffic accidents.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965192" y="3547872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5166360" y="3483864"/>
            <a:ext cx="31546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long-term maintenance costs for municipalities.</a:t>
            </a:r>
            <a:endParaRPr lang="en-US" sz="1150" dirty="0"/>
          </a:p>
        </p:txBody>
      </p:sp>
      <p:sp>
        <p:nvSpPr>
          <p:cNvPr id="24" name="Text 20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25" name="Text 21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3840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EXISTING SYSTEM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" y="896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already out there — and where it stops short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298448"/>
            <a:ext cx="3931920" cy="3246120"/>
          </a:xfrm>
          <a:prstGeom prst="roundRect">
            <a:avLst>
              <a:gd name="adj" fmla="val 1690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822960" y="1481328"/>
            <a:ext cx="438912" cy="438912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work/icons/too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2213" y="1540581"/>
            <a:ext cx="320406" cy="320406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371600" y="1508760"/>
            <a:ext cx="3017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Exists Today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850392" y="2121408"/>
            <a:ext cx="91440" cy="9144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9" name="Text 6"/>
          <p:cNvSpPr/>
          <p:nvPr/>
        </p:nvSpPr>
        <p:spPr>
          <a:xfrm>
            <a:off x="1051560" y="2057400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inspections + citizen complaints — slow to act on.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850392" y="3017520"/>
            <a:ext cx="91440" cy="9144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1" name="Text 8"/>
          <p:cNvSpPr/>
          <p:nvPr/>
        </p:nvSpPr>
        <p:spPr>
          <a:xfrm>
            <a:off x="1051560" y="2953512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models like YOLOv8 (POT-YOLO) detect potholes from images/video with good accuracy.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850392" y="3913632"/>
            <a:ext cx="91440" cy="9144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3" name="Text 10"/>
          <p:cNvSpPr/>
          <p:nvPr/>
        </p:nvSpPr>
        <p:spPr>
          <a:xfrm>
            <a:off x="1051560" y="3849624"/>
            <a:ext cx="3337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stays on detection &amp; display, not on what happens next.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4709160" y="1298448"/>
            <a:ext cx="3840480" cy="3246120"/>
          </a:xfrm>
          <a:prstGeom prst="roundRect">
            <a:avLst>
              <a:gd name="adj" fmla="val 1690"/>
            </a:avLst>
          </a:prstGeom>
          <a:solidFill>
            <a:srgbClr val="FDECEC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2"/>
          <p:cNvSpPr/>
          <p:nvPr/>
        </p:nvSpPr>
        <p:spPr>
          <a:xfrm>
            <a:off x="4937760" y="1481328"/>
            <a:ext cx="438912" cy="438912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1" descr="/home/claude/work/icons/ban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97013" y="1540581"/>
            <a:ext cx="320406" cy="320406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486400" y="150876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It Falls Short</a:t>
            </a:r>
            <a:endParaRPr lang="en-US" sz="1300" dirty="0"/>
          </a:p>
        </p:txBody>
      </p:sp>
      <p:sp>
        <p:nvSpPr>
          <p:cNvPr id="18" name="Shape 14"/>
          <p:cNvSpPr/>
          <p:nvPr/>
        </p:nvSpPr>
        <p:spPr>
          <a:xfrm>
            <a:off x="4965192" y="2084832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9" name="Text 15"/>
          <p:cNvSpPr/>
          <p:nvPr/>
        </p:nvSpPr>
        <p:spPr>
          <a:xfrm>
            <a:off x="5166360" y="20299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automatic reporting or municipal repair workflow.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4965192" y="2770632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1" name="Text 17"/>
          <p:cNvSpPr/>
          <p:nvPr/>
        </p:nvSpPr>
        <p:spPr>
          <a:xfrm>
            <a:off x="5166360" y="27157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duplicate-detection removal across repeated reports.</a:t>
            </a:r>
            <a:endParaRPr lang="en-US" sz="1150" dirty="0"/>
          </a:p>
        </p:txBody>
      </p:sp>
      <p:sp>
        <p:nvSpPr>
          <p:cNvPr id="22" name="Shape 18"/>
          <p:cNvSpPr/>
          <p:nvPr/>
        </p:nvSpPr>
        <p:spPr>
          <a:xfrm>
            <a:off x="4965192" y="3456432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3" name="Text 19"/>
          <p:cNvSpPr/>
          <p:nvPr/>
        </p:nvSpPr>
        <p:spPr>
          <a:xfrm>
            <a:off x="5166360" y="34015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routing to the responsible office or automatic repair tickets.</a:t>
            </a:r>
            <a:endParaRPr lang="en-US" sz="1150" dirty="0"/>
          </a:p>
        </p:txBody>
      </p:sp>
      <p:sp>
        <p:nvSpPr>
          <p:cNvPr id="24" name="Shape 20"/>
          <p:cNvSpPr/>
          <p:nvPr/>
        </p:nvSpPr>
        <p:spPr>
          <a:xfrm>
            <a:off x="4965192" y="4142232"/>
            <a:ext cx="91440" cy="9144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Text 21"/>
          <p:cNvSpPr/>
          <p:nvPr/>
        </p:nvSpPr>
        <p:spPr>
          <a:xfrm>
            <a:off x="5166360" y="4087368"/>
            <a:ext cx="32461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1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intervention still required after detection.</a:t>
            </a:r>
            <a:endParaRPr lang="en-US" sz="1150" dirty="0"/>
          </a:p>
        </p:txBody>
      </p:sp>
      <p:sp>
        <p:nvSpPr>
          <p:cNvPr id="26" name="Text 22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27" name="Text 23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3840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PROPOSED SYSTEM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" y="896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EcoRoads closes the loop — detection to repair ticket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298448"/>
            <a:ext cx="2788920" cy="155448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5" name="Shape 3"/>
          <p:cNvSpPr/>
          <p:nvPr/>
        </p:nvSpPr>
        <p:spPr>
          <a:xfrm>
            <a:off x="758952" y="1463040"/>
            <a:ext cx="365760" cy="36576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6" name="Image 0" descr="/home/claude/work/icons/camer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8330" y="1512418"/>
            <a:ext cx="267005" cy="267005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758952" y="188366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Edge Capture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758952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 camera, GPS &amp; accelerometer feed a YOLOv8n model on the laptop GPU.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3547872" y="1298448"/>
            <a:ext cx="2788920" cy="155448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0" name="Shape 7"/>
          <p:cNvSpPr/>
          <p:nvPr/>
        </p:nvSpPr>
        <p:spPr>
          <a:xfrm>
            <a:off x="3712464" y="1463040"/>
            <a:ext cx="365760" cy="36576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1" name="Image 1" descr="/home/claude/work/icons/bol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761842" y="1512418"/>
            <a:ext cx="267005" cy="26700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12464" y="188366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Offline-First Sync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3712464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queue in SQLite and sync over HTTPS to a FastAPI + PostgreSQL cloud.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6501384" y="1298448"/>
            <a:ext cx="2788920" cy="155448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15" name="Shape 11"/>
          <p:cNvSpPr/>
          <p:nvPr/>
        </p:nvSpPr>
        <p:spPr>
          <a:xfrm>
            <a:off x="6665976" y="1463040"/>
            <a:ext cx="365760" cy="36576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16" name="Image 2" descr="/home/claude/work/icons/databas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715354" y="1512418"/>
            <a:ext cx="267005" cy="267005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665976" y="1883664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&amp; Locate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665976" y="2121408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 check; Haversine finds the municipality (one office each); DBSCAN removes duplicates.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2071116" y="3017520"/>
            <a:ext cx="2788920" cy="155448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0" name="Shape 15"/>
          <p:cNvSpPr/>
          <p:nvPr/>
        </p:nvSpPr>
        <p:spPr>
          <a:xfrm>
            <a:off x="2235708" y="3182112"/>
            <a:ext cx="365760" cy="365760"/>
          </a:xfrm>
          <a:prstGeom prst="ellipse">
            <a:avLst/>
          </a:prstGeom>
          <a:solidFill>
            <a:srgbClr val="CC0001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1" name="Image 3" descr="/home/claude/work/icons/ticke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85086" y="3231490"/>
            <a:ext cx="267005" cy="267005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2235708" y="3602736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Ticketing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2235708" y="3840480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After N detections (default 3) Gemini drafts the ticket automatically; template fallback.</a:t>
            </a:r>
            <a:endParaRPr lang="en-US" sz="950" dirty="0"/>
          </a:p>
        </p:txBody>
      </p:sp>
      <p:sp>
        <p:nvSpPr>
          <p:cNvPr id="24" name="Shape 18"/>
          <p:cNvSpPr/>
          <p:nvPr/>
        </p:nvSpPr>
        <p:spPr>
          <a:xfrm>
            <a:off x="5024628" y="3017520"/>
            <a:ext cx="2788920" cy="1554480"/>
          </a:xfrm>
          <a:prstGeom prst="roundRect">
            <a:avLst>
              <a:gd name="adj" fmla="val 3529"/>
            </a:avLst>
          </a:prstGeom>
          <a:solidFill>
            <a:srgbClr val="EEF3FA"/>
          </a:solidFill>
          <a:ln/>
        </p:spPr>
        <p:txBody>
          <a:bodyPr/>
          <a:lstStyle/>
          <a:p>
            <a:endParaRPr/>
          </a:p>
        </p:txBody>
      </p:sp>
      <p:sp>
        <p:nvSpPr>
          <p:cNvPr id="25" name="Shape 19"/>
          <p:cNvSpPr/>
          <p:nvPr/>
        </p:nvSpPr>
        <p:spPr>
          <a:xfrm>
            <a:off x="5189220" y="3182112"/>
            <a:ext cx="365760" cy="36576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26" name="Image 4" descr="/home/claude/work/icons/map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238598" y="3231490"/>
            <a:ext cx="267005" cy="267005"/>
          </a:xfrm>
          <a:prstGeom prst="rect">
            <a:avLst/>
          </a:prstGeom>
        </p:spPr>
      </p:pic>
      <p:sp>
        <p:nvSpPr>
          <p:cNvPr id="27" name="Text 20"/>
          <p:cNvSpPr/>
          <p:nvPr/>
        </p:nvSpPr>
        <p:spPr>
          <a:xfrm>
            <a:off x="5189220" y="3602736"/>
            <a:ext cx="24597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0B3D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Dashboard</a:t>
            </a:r>
            <a:endParaRPr lang="en-US" sz="1200" dirty="0"/>
          </a:p>
        </p:txBody>
      </p:sp>
      <p:sp>
        <p:nvSpPr>
          <p:cNvPr id="28" name="Text 21"/>
          <p:cNvSpPr/>
          <p:nvPr/>
        </p:nvSpPr>
        <p:spPr>
          <a:xfrm>
            <a:off x="5189220" y="3840480"/>
            <a:ext cx="245973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95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Leaflet + OpenStreetMap map per municipality with repair and reopened status.</a:t>
            </a:r>
            <a:endParaRPr lang="en-US" sz="950" dirty="0"/>
          </a:p>
        </p:txBody>
      </p:sp>
      <p:sp>
        <p:nvSpPr>
          <p:cNvPr id="29" name="Text 22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30" name="Text 23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672" y="292608"/>
            <a:ext cx="3434786" cy="5693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100" b="1" dirty="0">
                <a:solidFill>
                  <a:srgbClr val="1A1A1A"/>
                </a:solidFill>
                <a:latin typeface="Times New Roman"/>
              </a:rPr>
              <a:t>  </a:t>
            </a:r>
            <a:r>
              <a:rPr sz="3100" b="1" dirty="0">
                <a:solidFill>
                  <a:srgbClr val="1A1A1A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954638"/>
              </p:ext>
            </p:extLst>
          </p:nvPr>
        </p:nvGraphicFramePr>
        <p:xfrm>
          <a:off x="239151" y="1154603"/>
          <a:ext cx="8229601" cy="30749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150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3974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6899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08483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5617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832762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41425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Publisher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Methodology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733550"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1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IEEE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IN" sz="1000" b="0" i="1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(IEEE Sensors Journal)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Xiaoning Huang, Jintao Cheng, </a:t>
                      </a:r>
                      <a:r>
                        <a:rPr lang="en-IN" sz="1000" b="0" i="0" u="none" strike="noStrike" dirty="0" err="1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Qiuchi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 Xiang, Jun Dong, Jin Wu, Rui Fan, Xiaoyu Tang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1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LEPS: A Lightweight and Effective Single-Stage Detector for Pothole Segmentation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Integrates an Edge and Attention-enhanced Detail Extension (EADE) module in the backbone using convolutional superposition.</a:t>
                      </a:r>
                    </a:p>
                    <a:p>
                      <a:pPr rtl="0" fontAlgn="t">
                        <a:buNone/>
                      </a:pP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Uses a Gradient Contrast Attention (GCA) module in the neck to reduce parameter redundancy.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fontAlgn="t">
                        <a:buNone/>
                      </a:pPr>
                      <a:br>
                        <a:rPr lang="en-IN" sz="1000" dirty="0">
                          <a:effectLst/>
                          <a:latin typeface="+mn-lt"/>
                        </a:rPr>
                      </a:b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Optimizes </a:t>
                      </a:r>
                      <a:r>
                        <a:rPr lang="en-IN" sz="1000" b="0" i="0" u="none" strike="noStrike" dirty="0" err="1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ProtoNet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 within the instance segmentation head for fine-grained mask generation.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Achieves high instance segmentation accuracy (AP50 mask score of 0.892 on UDTIRI).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Highly lightweight parameter footprint suitable for real-time edge computing devices.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Effectively captures subtle edge details and local feature gradients.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Focuses strictly on 2D mask boundaries without providing 3D depth or volumetric estimation.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fontAlgn="t">
                        <a:buNone/>
                      </a:pPr>
                      <a:br>
                        <a:rPr lang="en-IN" sz="1000" dirty="0">
                          <a:effectLst/>
                          <a:latin typeface="+mn-lt"/>
                        </a:rPr>
                      </a:b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Segmentation quality can degrade under extreme image noise or heavy occlusions.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34731668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672" y="292608"/>
            <a:ext cx="3434786" cy="5693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100" b="1" dirty="0">
                <a:solidFill>
                  <a:srgbClr val="1A1A1A"/>
                </a:solidFill>
                <a:latin typeface="Times New Roman"/>
              </a:rPr>
              <a:t>  </a:t>
            </a:r>
            <a:r>
              <a:rPr sz="3100" b="1" dirty="0">
                <a:solidFill>
                  <a:srgbClr val="1A1A1A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2018080"/>
              </p:ext>
            </p:extLst>
          </p:nvPr>
        </p:nvGraphicFramePr>
        <p:xfrm>
          <a:off x="428519" y="1017791"/>
          <a:ext cx="7621878" cy="369172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2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7891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55912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06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2346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 err="1">
                          <a:solidFill>
                            <a:srgbClr val="FFFFFF"/>
                          </a:solidFill>
                          <a:latin typeface="Calibri"/>
                        </a:rPr>
                        <a:t>Publisher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Methodology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1899">
                <a:tc>
                  <a:txBody>
                    <a:bodyPr/>
                    <a:lstStyle/>
                    <a:p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IEEE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en-IN" sz="1000" b="0" i="1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(IEEE Transactions on Intelligent Transportation Systems)</a:t>
                      </a:r>
                      <a:endParaRPr sz="10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Aidi Wang, Hong Lang, Zhen Chen, Yichuan Peng, Shuo Ding, Jian John Lu</a:t>
                      </a:r>
                      <a:endParaRPr sz="10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The Two-Step Method of Pavement Pothole and </a:t>
                      </a:r>
                      <a:r>
                        <a:rPr lang="en-IN" sz="1000" b="1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Raveling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Detection and Segmentation Based on Deep Learning</a:t>
                      </a:r>
                      <a:endParaRPr sz="10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Step 1 (Detection)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Identifies candidate distress regions using a modified YOLOX detector.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b="0" dirty="0">
                          <a:effectLst/>
                        </a:rPr>
                      </a:br>
                      <a:endParaRPr lang="en-IN" sz="1000" b="0" dirty="0">
                        <a:effectLst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Step 2 (Segmentation)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Uses Dual Self-Attention Segmentation Network (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DSASNet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 with parallel Twins-SVT self-attention branches to extract features from intensity and range images.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b="0" dirty="0">
                          <a:effectLst/>
                        </a:rPr>
                      </a:br>
                      <a:endParaRPr lang="en-IN" sz="1000" b="0" dirty="0">
                        <a:effectLst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Integrates a mid-fusion module and Pyramid Pooling Module (PPM) to handle multi-scale distress features.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dirty="0"/>
                      </a:br>
                      <a:endParaRPr sz="10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Decoupling detection and segmentation achieves higher accuracy and efficiency than single-stage segmentation models.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b="0" dirty="0">
                          <a:effectLst/>
                        </a:rPr>
                      </a:br>
                      <a:endParaRPr lang="en-IN" sz="1000" b="0" dirty="0">
                        <a:effectLst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Fuses 2D intensity and 3D range laser data to effectively distinguish similar surface defects (potholes vs.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raveling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).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b="0" dirty="0">
                          <a:effectLst/>
                        </a:rPr>
                      </a:br>
                      <a:endParaRPr lang="en-IN" sz="1000" b="0" dirty="0">
                        <a:effectLst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Achieves high performance (F1-score of 93.65% and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IoU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of 0.881).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dirty="0"/>
                      </a:br>
                      <a:endParaRPr sz="10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Two-stage pipeline adds architectural complexity and computational overhead compared to single-stage real-time models.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b="0" dirty="0">
                          <a:effectLst/>
                        </a:rPr>
                      </a:br>
                      <a:endParaRPr lang="en-IN" sz="1000" b="0" dirty="0">
                        <a:effectLst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Requires specialized 3D line-laser scanner inputs (intensity and range images) rather than standard RGB cameras.</a:t>
                      </a:r>
                      <a:endParaRPr lang="en-IN" sz="1000" b="0" dirty="0">
                        <a:effectLst/>
                      </a:endParaRPr>
                    </a:p>
                    <a:p>
                      <a:br>
                        <a:rPr lang="en-IN" sz="1000" dirty="0"/>
                      </a:br>
                      <a:endParaRPr sz="1000" dirty="0">
                        <a:solidFill>
                          <a:srgbClr val="1A1A1A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40878830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672" y="292608"/>
            <a:ext cx="3434786" cy="56938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lang="en-US" sz="3100" b="1" dirty="0">
                <a:solidFill>
                  <a:srgbClr val="1A1A1A"/>
                </a:solidFill>
                <a:latin typeface="Times New Roman"/>
              </a:rPr>
              <a:t>  </a:t>
            </a:r>
            <a:r>
              <a:rPr sz="3100" b="1" dirty="0">
                <a:solidFill>
                  <a:srgbClr val="1A1A1A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86026850"/>
              </p:ext>
            </p:extLst>
          </p:nvPr>
        </p:nvGraphicFramePr>
        <p:xfrm>
          <a:off x="428519" y="1017791"/>
          <a:ext cx="7621878" cy="334424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545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259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18053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1998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0515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6063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2346"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Publisher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Author(s)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Title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Methodology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Advantages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/>
                        </a:rPr>
                        <a:t>Disadvantages</a:t>
                      </a:r>
                      <a:endParaRPr sz="1050" b="1" dirty="0">
                        <a:solidFill>
                          <a:srgbClr val="FFFFFF"/>
                        </a:solidFill>
                        <a:latin typeface="Calibri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1899">
                <a:tc>
                  <a:txBody>
                    <a:bodyPr/>
                    <a:lstStyle/>
                    <a:p>
                      <a:r>
                        <a:rPr lang="en-IN" sz="1000" dirty="0">
                          <a:latin typeface="+mn-lt"/>
                        </a:rPr>
                        <a:t>IEEE</a:t>
                      </a:r>
                    </a:p>
                    <a:p>
                      <a:r>
                        <a:rPr lang="en-IN" sz="1000" dirty="0">
                          <a:solidFill>
                            <a:srgbClr val="1A1A1A"/>
                          </a:solidFill>
                          <a:latin typeface="+mn-lt"/>
                        </a:rPr>
                        <a:t>(IEEE Transactions on Intelligent Transportation Systems)</a:t>
                      </a: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Sicen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Guo,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Jiahang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Li, Yi Feng,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Dacheng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Zhou,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Denghuang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Zhang, Chen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Chen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Shuai Su</a:t>
                      </a: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UDTIRI: An Online Open-Source Intelligent Road Inspection Benchmark Suite</a:t>
                      </a: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Builds an online, open-source benchmark suite for automated road condition evaluation.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Aggregates multi-modal sensor/camera datasets and standardizes evaluation metrics across detection, segmentation, and classification.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Provides standardized ground truth and unified benchmarks for visual road inspection.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Facilitates consistent cross-model comparison for urban maintenance algorithms.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Functions as a benchmark suite rather than introducing a standalone custom neural network architecture.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Requires ongoing dataset updates to accommodate new sensor hardware modalities.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1978052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04672" y="292608"/>
            <a:ext cx="7132320" cy="53035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100" b="1">
                <a:solidFill>
                  <a:srgbClr val="1A1A1A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96568096"/>
              </p:ext>
            </p:extLst>
          </p:nvPr>
        </p:nvGraphicFramePr>
        <p:xfrm>
          <a:off x="562708" y="846870"/>
          <a:ext cx="7498078" cy="3848457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5414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3762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917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29855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382327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63366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06681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Publisher</a:t>
                      </a:r>
                      <a:endParaRPr sz="10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Author(s)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+mn-lt"/>
                        </a:rPr>
                        <a:t>Title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+mn-lt"/>
                        </a:rPr>
                        <a:t>Methodology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Advantages</a:t>
                      </a:r>
                      <a:endParaRPr sz="10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Disadvantages</a:t>
                      </a:r>
                      <a:endParaRPr sz="10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35548"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1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IEEE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IN" sz="1000" b="0" i="1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(IEEE Transactions on Intelligent Transportation Systems)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Tong Zhao, Lei Yang, Yichen Xie, Mingyu Ding, Masayoshi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Tomizuka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,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Yintao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Wei</a:t>
                      </a: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IN" sz="1000" b="1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RoadBEV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Road Surface Reconstruction in Bird's Eye View</a:t>
                      </a: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Converts camera features into a 3D voxel grid in Bird's Eye View (BEV) via 3D-to-2D projection.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</a:t>
                      </a:r>
                      <a:r>
                        <a:rPr lang="en-IN" sz="1000" b="1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RoadBEV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-mono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Uses an EfficientNet-B6 backbone and soft-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argmin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classification across discretized elevation bins.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</a:t>
                      </a:r>
                      <a:r>
                        <a:rPr lang="en-IN" sz="1000" b="1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RoadBEV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-stereo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: Builds a 4D correlation cost volume from stereo pairs, processed through 3D CNNs and an occupancy network.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Eliminates perspective distortion and search-direction bias inherent in image-view depth estimation.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fontAlgn="t">
                        <a:buNone/>
                      </a:pPr>
                      <a:br>
                        <a:rPr lang="en-IN" sz="1000" dirty="0">
                          <a:effectLst/>
                          <a:latin typeface="+mn-lt"/>
                        </a:rPr>
                      </a:b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Delivers high-precision road elevation accuracy (1.83 cm mono, 0.50 cm stereo error).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fontAlgn="t">
                        <a:buNone/>
                      </a:pPr>
                      <a:br>
                        <a:rPr lang="en-IN" sz="1000" dirty="0">
                          <a:effectLst/>
                          <a:latin typeface="+mn-lt"/>
                        </a:rPr>
                      </a:b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Formulating depth as elevation bin classification improves stability over continuous regression.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Significant computational overhead for 3D convolutions in stereo mode, limiting real-time edge performance.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Reconstructs road geometry/elevation without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modeling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surface </a:t>
                      </a:r>
                      <a:r>
                        <a:rPr lang="en-IN" sz="1000" b="0" i="0" u="none" strike="noStrike" kern="1200" dirty="0" err="1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color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or texture.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Relies heavily on precise extrinsic camera-to-ground calibration.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6993793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287195" y="292608"/>
            <a:ext cx="3938954" cy="5693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100" b="1" dirty="0">
                <a:solidFill>
                  <a:srgbClr val="1A1A1A"/>
                </a:solidFill>
                <a:latin typeface="Times New Roman"/>
              </a:rPr>
              <a:t>Literature Survey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96419"/>
              </p:ext>
            </p:extLst>
          </p:nvPr>
        </p:nvGraphicFramePr>
        <p:xfrm>
          <a:off x="523317" y="934738"/>
          <a:ext cx="7846960" cy="332401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65403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0043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6583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3589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446646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70967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282117"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Publisher</a:t>
                      </a:r>
                      <a:endParaRPr sz="10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+mn-lt"/>
                        </a:rPr>
                        <a:t>Author(s)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+mn-lt"/>
                        </a:rPr>
                        <a:t>Title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+mn-lt"/>
                        </a:rPr>
                        <a:t>Methodology</a:t>
                      </a: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Advantages</a:t>
                      </a:r>
                      <a:endParaRPr sz="10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+mn-lt"/>
                        </a:rPr>
                        <a:t>Disadvantages</a:t>
                      </a:r>
                      <a:endParaRPr sz="1000" b="1" dirty="0">
                        <a:solidFill>
                          <a:srgbClr val="FFFFFF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0B3D6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41899"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1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IEEE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 </a:t>
                      </a:r>
                      <a:r>
                        <a:rPr lang="en-IN" sz="1000" b="0" i="1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(IEEE Transactions on Industrial Informatics)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Rahmat Ali, Qasim Bin Saeed, Ora </a:t>
                      </a:r>
                      <a:r>
                        <a:rPr lang="en-IN" sz="1000" b="0" i="0" u="none" strike="noStrike" dirty="0" err="1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Buyukozturk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, </a:t>
                      </a:r>
                      <a:r>
                        <a:rPr lang="en-IN" sz="1000" b="0" i="0" u="none" strike="noStrike" dirty="0" err="1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SangHyun</a:t>
                      </a: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 Lee, Young-Jin Cha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spcBef>
                          <a:spcPts val="600"/>
                        </a:spcBef>
                        <a:spcAft>
                          <a:spcPts val="600"/>
                        </a:spcAft>
                        <a:buNone/>
                      </a:pPr>
                      <a:r>
                        <a:rPr lang="en-IN" sz="1000" b="1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Monocular Computer Vision-Based Simultaneous Pothole Segmentation and 3-D Volume Prediction Using 3DpredicNet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Employs the </a:t>
                      </a:r>
                      <a:r>
                        <a:rPr lang="en-IN" sz="1000" b="1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3DpredicNet</a:t>
                      </a:r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 architecture incorporating multi-scale convolutions, channel/spatial attention, and criss-cross attention mechanisms.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Uses a single standard monocular RGB camera without requiring expensive hardware like LiDAR or stereo pairs.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Provides an end-to-end solution for both pothole area detection and 3D volume estimation.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b="0" dirty="0">
                          <a:effectLst/>
                          <a:latin typeface="+mn-lt"/>
                        </a:rPr>
                      </a:b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pPr rtl="0"/>
                      <a:r>
                        <a:rPr lang="en-IN" sz="1000" b="0" i="0" u="none" strike="noStrike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• Captures long-range spatial context and irregular boundary details effectively.</a:t>
                      </a:r>
                      <a:endParaRPr lang="en-IN" sz="1000" b="0" dirty="0">
                        <a:effectLst/>
                        <a:latin typeface="+mn-lt"/>
                      </a:endParaRPr>
                    </a:p>
                    <a:p>
                      <a:br>
                        <a:rPr lang="en-IN" sz="1000" dirty="0">
                          <a:latin typeface="+mn-lt"/>
                        </a:rPr>
                      </a:br>
                      <a:endParaRPr sz="1000" dirty="0">
                        <a:solidFill>
                          <a:srgbClr val="1A1A1A"/>
                        </a:solidFill>
                        <a:latin typeface="+mn-lt"/>
                      </a:endParaRPr>
                    </a:p>
                  </a:txBody>
                  <a:tcPr marL="36576" marR="27432" marT="18288" marB="18288">
                    <a:solidFill>
                      <a:srgbClr val="D6DEED"/>
                    </a:solidFill>
                  </a:tcPr>
                </a:tc>
                <a:tc>
                  <a:txBody>
                    <a:bodyPr/>
                    <a:lstStyle/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Vulnerable to environmental interferences such as harsh shadows, wet roads, and lighting variations.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fontAlgn="t">
                        <a:buNone/>
                      </a:pPr>
                      <a:br>
                        <a:rPr lang="en-IN" sz="1000" dirty="0">
                          <a:effectLst/>
                          <a:latin typeface="+mn-lt"/>
                        </a:rPr>
                      </a:b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Monocular 3D volume prediction is inherently sensitive to camera pose and scale ambiguity.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fontAlgn="t">
                        <a:buNone/>
                      </a:pPr>
                      <a:br>
                        <a:rPr lang="en-IN" sz="1000" dirty="0">
                          <a:effectLst/>
                          <a:latin typeface="+mn-lt"/>
                        </a:rPr>
                      </a:br>
                      <a:endParaRPr lang="en-IN" sz="1000" dirty="0">
                        <a:effectLst/>
                        <a:latin typeface="+mn-lt"/>
                      </a:endParaRPr>
                    </a:p>
                    <a:p>
                      <a:pPr rtl="0" fontAlgn="t">
                        <a:buNone/>
                      </a:pPr>
                      <a:r>
                        <a:rPr lang="en-IN" sz="1000" b="0" i="0" u="none" strike="noStrike" dirty="0">
                          <a:solidFill>
                            <a:srgbClr val="1F1F1F"/>
                          </a:solidFill>
                          <a:effectLst/>
                          <a:latin typeface="+mn-lt"/>
                        </a:rPr>
                        <a:t>• Restricted to localized pothole volume assessment rather than continuous full-road profile reconstruction.</a:t>
                      </a:r>
                      <a:endParaRPr lang="en-IN" sz="1000" dirty="0">
                        <a:effectLst/>
                        <a:latin typeface="+mn-lt"/>
                      </a:endParaRPr>
                    </a:p>
                  </a:txBody>
                  <a:tcPr marL="114300" marR="114300" marT="76200" marB="76200">
                    <a:solidFill>
                      <a:srgbClr val="D6DEED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70930401"/>
                  </a:ext>
                </a:extLst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AF552-A2AA-C3CC-251A-549D714C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>
            <a:extLst>
              <a:ext uri="{FF2B5EF4-FFF2-40B4-BE49-F238E27FC236}">
                <a16:creationId xmlns:a16="http://schemas.microsoft.com/office/drawing/2014/main" id="{6E3F8AEC-F5FC-6241-DE42-5B086AA59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EA41C5-0589-AAD2-8020-0CC0B4223D9C}"/>
              </a:ext>
            </a:extLst>
          </p:cNvPr>
          <p:cNvSpPr txBox="1"/>
          <p:nvPr/>
        </p:nvSpPr>
        <p:spPr>
          <a:xfrm>
            <a:off x="1246271" y="584995"/>
            <a:ext cx="65535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SOFTWARE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> REQUIREMENTS</a:t>
            </a:r>
            <a:endParaRPr sz="3100" b="1" dirty="0">
              <a:solidFill>
                <a:srgbClr val="1A1A1A"/>
              </a:solidFill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56ADD-A4BA-4DE8-A22E-34585B3E1546}"/>
              </a:ext>
            </a:extLst>
          </p:cNvPr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EC7550-D6D6-9BB8-63BB-45F3D0DFA10A}"/>
              </a:ext>
            </a:extLst>
          </p:cNvPr>
          <p:cNvSpPr txBox="1"/>
          <p:nvPr/>
        </p:nvSpPr>
        <p:spPr>
          <a:xfrm>
            <a:off x="841247" y="1268087"/>
            <a:ext cx="669986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Programming:</a:t>
            </a:r>
            <a:r>
              <a:rPr lang="en-IN" dirty="0"/>
              <a:t> Python, JavaScript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AI/ML:</a:t>
            </a:r>
            <a:r>
              <a:rPr lang="en-IN" dirty="0"/>
              <a:t> YOLOv8n (Ultralytics), PyTorch + CUDA, OpenCV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Backend:</a:t>
            </a:r>
            <a:r>
              <a:rPr lang="en-IN" dirty="0"/>
              <a:t> FastAPI, Uvicorn, REST API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Database:</a:t>
            </a:r>
            <a:r>
              <a:rPr lang="en-IN" dirty="0"/>
              <a:t> SQLite (edge queue), PostgreSQL – Neon (cloud)</a:t>
            </a:r>
            <a:r>
              <a:rPr lang="en-IN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Frontend:</a:t>
            </a:r>
            <a:r>
              <a:rPr lang="en-IN" dirty="0"/>
              <a:t> HTML, CSS, JavaScript</a:t>
            </a:r>
            <a:r>
              <a:rPr lang="en-IN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Maps &amp; Location:</a:t>
            </a:r>
            <a:r>
              <a:rPr lang="en-IN" dirty="0"/>
              <a:t> Leaflet, OpenStreetMap, Overpass API, GPS</a:t>
            </a:r>
            <a:r>
              <a:rPr lang="en-IN" dirty="0" err="1"/>
              <a:t/>
            </a:r>
            <a:r>
              <a:rPr lang="en-IN" dirty="0"/>
              <a:t/>
            </a:r>
            <a:r>
              <a:rPr lang="en-IN" dirty="0" err="1"/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Data Processing:</a:t>
            </a:r>
            <a:r>
              <a:rPr lang="en-IN" dirty="0"/>
              <a:t> DBSCAN (scikit-learn), Haversine Formula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LLM:</a:t>
            </a:r>
            <a:r>
              <a:rPr lang="en-IN" dirty="0"/>
              <a:t> Google Gemini API for repair-ticket generation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Tools:</a:t>
            </a:r>
            <a:r>
              <a:rPr lang="en-IN" dirty="0"/>
              <a:t> VS Code, Git/GitHub, Roboflow, pytest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Deployment:</a:t>
            </a:r>
            <a:r>
              <a:rPr lang="en-IN" dirty="0"/>
              <a:t> Render (Docker) + Neon PostgreSQL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0BC9D4-A144-9AC3-9C9A-210768500D9F}"/>
              </a:ext>
            </a:extLst>
          </p:cNvPr>
          <p:cNvSpPr txBox="1"/>
          <p:nvPr/>
        </p:nvSpPr>
        <p:spPr>
          <a:xfrm>
            <a:off x="2316659" y="4536370"/>
            <a:ext cx="374903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595959"/>
                </a:solidFill>
                <a:latin typeface="Calibri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6224122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419A62-CF82-1F1F-CF36-BCF8225E2F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>
            <a:extLst>
              <a:ext uri="{FF2B5EF4-FFF2-40B4-BE49-F238E27FC236}">
                <a16:creationId xmlns:a16="http://schemas.microsoft.com/office/drawing/2014/main" id="{6BFCA255-61A0-999C-A303-7C0FDD1FFD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A1F990B9-D88B-FC4B-8589-6791C964F479}"/>
              </a:ext>
            </a:extLst>
          </p:cNvPr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5FD9E0D-023C-817B-7EEF-CC10FF9BCED8}"/>
              </a:ext>
            </a:extLst>
          </p:cNvPr>
          <p:cNvSpPr txBox="1"/>
          <p:nvPr/>
        </p:nvSpPr>
        <p:spPr>
          <a:xfrm>
            <a:off x="745236" y="1244013"/>
            <a:ext cx="526542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Camera:</a:t>
            </a:r>
            <a:r>
              <a:rPr lang="en-IN" dirty="0"/>
              <a:t> Phone rear camera – Road video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GPS &amp; Motion:</a:t>
            </a:r>
            <a:r>
              <a:rPr lang="en-IN" dirty="0"/>
              <a:t> Phone GPS + accelerometer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Edge Device:</a:t>
            </a:r>
            <a:r>
              <a:rPr lang="en-IN" dirty="0"/>
              <a:t> Laptop, RTX 4060 GPU – Detection</a:t>
            </a:r>
            <a:r>
              <a:rPr lang="en-IN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Communication:</a:t>
            </a:r>
            <a:r>
              <a:rPr lang="en-IN" dirty="0"/>
              <a:t> Hotspot / Wi-Fi – Link &amp; sync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Server:</a:t>
            </a:r>
            <a:r>
              <a:rPr lang="en-IN" dirty="0"/>
              <a:t> Render + Neon PostgreSQL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Computer:</a:t>
            </a:r>
            <a:r>
              <a:rPr lang="en-IN" dirty="0"/>
              <a:t> Laptop/PC – Municipal dashboard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Power:</a:t>
            </a:r>
            <a:r>
              <a:rPr lang="en-IN" dirty="0"/>
              <a:t> Car charger / laptop battery</a:t>
            </a:r>
          </a:p>
        </p:txBody>
      </p:sp>
      <p:sp>
        <p:nvSpPr>
          <p:cNvPr id="9" name="Footer Placeholder 3">
            <a:extLst>
              <a:ext uri="{FF2B5EF4-FFF2-40B4-BE49-F238E27FC236}">
                <a16:creationId xmlns:a16="http://schemas.microsoft.com/office/drawing/2014/main" id="{43BE24AB-3605-C8C7-0EB7-16438C92A687}"/>
              </a:ext>
            </a:extLst>
          </p:cNvPr>
          <p:cNvSpPr txBox="1">
            <a:spLocks/>
          </p:cNvSpPr>
          <p:nvPr/>
        </p:nvSpPr>
        <p:spPr>
          <a:xfrm>
            <a:off x="3419944" y="4559809"/>
            <a:ext cx="3414141" cy="360679"/>
          </a:xfrm>
          <a:prstGeom prst="rect">
            <a:avLst/>
          </a:prstGeom>
        </p:spPr>
        <p:txBody>
          <a:bodyPr/>
          <a:lstStyle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US" sz="1200" dirty="0">
              <a:latin typeface="Calibri 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9EF29FA-CF89-BA6E-F219-94E42FB52822}"/>
              </a:ext>
            </a:extLst>
          </p:cNvPr>
          <p:cNvSpPr txBox="1"/>
          <p:nvPr/>
        </p:nvSpPr>
        <p:spPr>
          <a:xfrm>
            <a:off x="2380957" y="4619244"/>
            <a:ext cx="374903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595959"/>
                </a:solidFill>
                <a:latin typeface="Calibri"/>
              </a:rPr>
              <a:t>Department of Computer Science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EEFFF5AF-42CE-B124-41E2-EFDC6F203E3F}"/>
              </a:ext>
            </a:extLst>
          </p:cNvPr>
          <p:cNvSpPr txBox="1">
            <a:spLocks/>
          </p:cNvSpPr>
          <p:nvPr/>
        </p:nvSpPr>
        <p:spPr>
          <a:xfrm>
            <a:off x="745236" y="0"/>
            <a:ext cx="7210585" cy="1107996"/>
          </a:xfrm>
          <a:prstGeom prst="rect">
            <a:avLst/>
          </a:prstGeom>
        </p:spPr>
        <p:txBody>
          <a:bodyPr/>
          <a:lstStyle>
            <a:lvl1pPr algn="ctr" defTabSz="914400" rtl="0" eaLnBrk="1" latinLnBrk="0" hangingPunct="1"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br>
              <a:rPr lang="en-US" sz="3600" b="1" dirty="0">
                <a:latin typeface="Times New Roman" pitchFamily="18" charset="0"/>
                <a:cs typeface="Times New Roman" pitchFamily="18" charset="0"/>
              </a:rPr>
            </a:br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HARDWARE REQUIREMENTS</a:t>
            </a:r>
          </a:p>
        </p:txBody>
      </p:sp>
    </p:spTree>
    <p:extLst>
      <p:ext uri="{BB962C8B-B14F-4D97-AF65-F5344CB8AC3E}">
        <p14:creationId xmlns:p14="http://schemas.microsoft.com/office/powerpoint/2010/main" val="132203819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3">
            <a:lum/>
          </a:blip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68680" y="384048"/>
            <a:ext cx="74066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kern="0" spc="50" dirty="0">
                <a:solidFill>
                  <a:srgbClr val="1A1A1A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SYSTEM WORKFLOW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868680" y="896112"/>
            <a:ext cx="7406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road capture to municipal repair ticket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7955280" cy="3337560"/>
          </a:xfrm>
          <a:prstGeom prst="roundRect">
            <a:avLst>
              <a:gd name="adj" fmla="val 1096"/>
            </a:avLst>
          </a:prstGeom>
          <a:solidFill>
            <a:srgbClr val="FFFFFF"/>
          </a:solidFill>
          <a:ln w="9525">
            <a:solidFill>
              <a:srgbClr val="D9D9D9"/>
            </a:solidFill>
            <a:prstDash val="solid"/>
          </a:ln>
        </p:spPr>
        <p:txBody>
          <a:bodyPr/>
          <a:lstStyle/>
          <a:p>
            <a:endParaRPr/>
          </a:p>
        </p:txBody>
      </p:sp>
      <p:pic>
        <p:nvPicPr>
          <p:cNvPr id="5" name="Image 0" descr="/home/claude/work/unpacked/ppt/media/image2.jpg"/>
          <p:cNvPicPr>
            <a:picLocks noChangeAspect="1"/>
          </p:cNvPicPr>
          <p:nvPr/>
        </p:nvPicPr>
        <p:blipFill>
          <a:blip r:embed="rId4"/>
          <a:stretch/>
        </p:blipFill>
        <p:spPr>
          <a:xfrm>
            <a:off x="1782493" y="1250000"/>
            <a:ext cx="5579014" cy="33500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A500FF-9929-98AA-BDB3-2C0DE089F8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>
            <a:extLst>
              <a:ext uri="{FF2B5EF4-FFF2-40B4-BE49-F238E27FC236}">
                <a16:creationId xmlns:a16="http://schemas.microsoft.com/office/drawing/2014/main" id="{9428675F-E262-473D-CD58-DB4F2425BB7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A29FDCC4-C8D2-A18B-A5FE-11D17A64335B}"/>
              </a:ext>
            </a:extLst>
          </p:cNvPr>
          <p:cNvSpPr txBox="1"/>
          <p:nvPr/>
        </p:nvSpPr>
        <p:spPr>
          <a:xfrm>
            <a:off x="904896" y="443704"/>
            <a:ext cx="7507584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2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IMPLEMENTATION/METHODOLOGY</a:t>
            </a:r>
            <a:endParaRPr sz="3100" b="1" dirty="0">
              <a:solidFill>
                <a:srgbClr val="1A1A1A"/>
              </a:solidFill>
              <a:latin typeface="Times New Roman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64FCEEC-23B2-BE2B-D956-DC2128FD0D7C}"/>
              </a:ext>
            </a:extLst>
          </p:cNvPr>
          <p:cNvSpPr txBox="1"/>
          <p:nvPr/>
        </p:nvSpPr>
        <p:spPr>
          <a:xfrm>
            <a:off x="2240280" y="4791456"/>
            <a:ext cx="374903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595959"/>
                </a:solidFill>
                <a:latin typeface="Calibri"/>
              </a:rPr>
              <a:t>Department of Computer Science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1F49F9D-F641-A9B6-3563-08D9B6908C0C}"/>
              </a:ext>
            </a:extLst>
          </p:cNvPr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48B3231-CF75-7293-1F5D-C999818D748D}"/>
              </a:ext>
            </a:extLst>
          </p:cNvPr>
          <p:cNvSpPr txBox="1"/>
          <p:nvPr/>
        </p:nvSpPr>
        <p:spPr>
          <a:xfrm>
            <a:off x="494940" y="1425509"/>
            <a:ext cx="7507583" cy="255454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1:</a:t>
            </a:r>
            <a:r>
              <a:rPr lang="en-IN" sz="1600" dirty="0">
                <a:latin typeface="Calisto MT" panose="02040603050505030304" pitchFamily="18" charset="0"/>
              </a:rPr>
              <a:t> Phone sends frames, GPS and motion to the laptop (HTTPS).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2:</a:t>
            </a:r>
            <a:r>
              <a:rPr lang="en-IN" sz="1600" dirty="0">
                <a:latin typeface="Calisto MT" panose="02040603050505030304" pitchFamily="18" charset="0"/>
              </a:rPr>
              <a:t> YOLOv8n detects potholes on each frame (confidence ≥ 0.4).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3:</a:t>
            </a:r>
            <a:r>
              <a:rPr lang="en-IN" sz="1600" dirty="0">
                <a:latin typeface="Calisto MT" panose="02040603050505030304" pitchFamily="18" charset="0"/>
              </a:rPr>
              <a:t> One record per pothole: severity from confidence, size and jolt.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4:</a:t>
            </a:r>
            <a:r>
              <a:rPr lang="en-IN" sz="1600" dirty="0">
                <a:latin typeface="Calisto MT" panose="02040603050505030304" pitchFamily="18" charset="0"/>
              </a:rPr>
              <a:t> Store in local SQLite; sync to the cloud when online.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5:</a:t>
            </a:r>
            <a:r>
              <a:rPr lang="en-IN" sz="1600" dirty="0">
                <a:latin typeface="Calisto MT" panose="02040603050505030304" pitchFamily="18" charset="0"/>
              </a:rPr>
              <a:t> Cloud keeps hazards on public roads inside a municipality.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6:</a:t>
            </a:r>
            <a:r>
              <a:rPr lang="en-IN" sz="1600" dirty="0">
                <a:latin typeface="Calisto MT" panose="02040603050505030304" pitchFamily="18" charset="0"/>
              </a:rPr>
              <a:t> DBSCAN (15 m) merges duplicates; severity tier is assigned.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7:</a:t>
            </a:r>
            <a:r>
              <a:rPr lang="en-IN" sz="1600" dirty="0">
                <a:latin typeface="Calisto MT" panose="02040603050505030304" pitchFamily="18" charset="0"/>
              </a:rPr>
              <a:t> At 3 detections a ticket is raised for the municipality's office.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8:</a:t>
            </a:r>
            <a:r>
              <a:rPr lang="en-IN" sz="1600" dirty="0">
                <a:latin typeface="Calisto MT" panose="02040603050505030304" pitchFamily="18" charset="0"/>
              </a:rPr>
              <a:t> Gemini drafts the ticket text from facts (template if it fails).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9:</a:t>
            </a:r>
            <a:r>
              <a:rPr lang="en-IN" sz="1600" dirty="0">
                <a:latin typeface="Calisto MT" panose="02040603050505030304" pitchFamily="18" charset="0"/>
              </a:rPr>
              <a:t> Dashboard shows potholes, office, tickets and status.</a:t>
            </a:r>
          </a:p>
          <a:p>
            <a:pPr>
              <a:buNone/>
            </a:pPr>
            <a:r>
              <a:rPr lang="en-IN" sz="1600" b="1" dirty="0">
                <a:latin typeface="Calisto MT" panose="02040603050505030304" pitchFamily="18" charset="0"/>
              </a:rPr>
              <a:t>Step 10:</a:t>
            </a:r>
            <a:r>
              <a:rPr lang="en-IN" sz="1600" dirty="0">
                <a:latin typeface="Calisto MT" panose="02040603050505030304" pitchFamily="18" charset="0"/>
              </a:rPr>
              <a:t> Staff mark repairs; a pothole seen again is reopened.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539A587-7822-EBF6-CE5A-AC2B4254E7C7}"/>
              </a:ext>
            </a:extLst>
          </p:cNvPr>
          <p:cNvSpPr txBox="1"/>
          <p:nvPr/>
        </p:nvSpPr>
        <p:spPr>
          <a:xfrm>
            <a:off x="494940" y="1129409"/>
            <a:ext cx="719821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Input:</a:t>
            </a:r>
            <a:r>
              <a:rPr lang="en-IN" dirty="0"/>
              <a:t> Phone video with GPS and accelerometer data</a:t>
            </a:r>
            <a:r>
              <a:rPr lang="en-IN" sz="1600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  <a:r>
              <a:rPr lang="en-IN" sz="1600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E2CF00F-FB04-9992-DD9E-3072B343A64B}"/>
              </a:ext>
            </a:extLst>
          </p:cNvPr>
          <p:cNvSpPr txBox="1"/>
          <p:nvPr/>
        </p:nvSpPr>
        <p:spPr>
          <a:xfrm>
            <a:off x="494940" y="4060000"/>
            <a:ext cx="7746852" cy="4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b="1" dirty="0"/>
              <a:t>Output:</a:t>
            </a:r>
            <a:r>
              <a:rPr lang="en-IN" dirty="0"/>
              <a:t> Pothole report with location, severity, office and repair ticket.</a:t>
            </a:r>
            <a:r>
              <a:rPr lang="en-IN" sz="1600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  <a:r>
              <a:rPr lang="en-IN" sz="1600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36762432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7AD9E-71F4-B410-207E-7F20859434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>
            <a:extLst>
              <a:ext uri="{FF2B5EF4-FFF2-40B4-BE49-F238E27FC236}">
                <a16:creationId xmlns:a16="http://schemas.microsoft.com/office/drawing/2014/main" id="{CA255462-F622-6C86-9031-51391BAA32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98249360-F6AA-AF11-1123-9157163F9B91}"/>
              </a:ext>
            </a:extLst>
          </p:cNvPr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360DA0E-7EB7-F6DB-152D-478A15A038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6782" y="760000"/>
            <a:ext cx="7130435" cy="4000000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EE4237D-047A-FE51-33DC-4A00A3788A1F}"/>
              </a:ext>
            </a:extLst>
          </p:cNvPr>
          <p:cNvSpPr txBox="1"/>
          <p:nvPr/>
        </p:nvSpPr>
        <p:spPr>
          <a:xfrm>
            <a:off x="3167081" y="-21102"/>
            <a:ext cx="2366009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Flowchart</a:t>
            </a:r>
          </a:p>
        </p:txBody>
      </p:sp>
    </p:spTree>
    <p:extLst>
      <p:ext uri="{BB962C8B-B14F-4D97-AF65-F5344CB8AC3E}">
        <p14:creationId xmlns:p14="http://schemas.microsoft.com/office/powerpoint/2010/main" val="133918076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9"/>
          <p:cNvSpPr/>
          <p:nvPr/>
        </p:nvSpPr>
        <p:spPr>
          <a:xfrm>
            <a:off x="1289304" y="3648456"/>
            <a:ext cx="6894576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50" dirty="0"/>
          </a:p>
        </p:txBody>
      </p:sp>
      <p:sp>
        <p:nvSpPr>
          <p:cNvPr id="16" name="Text 10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17" name="Text 11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17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246A1F20-7F45-8527-9C48-57081F51BCCD}"/>
              </a:ext>
            </a:extLst>
          </p:cNvPr>
          <p:cNvSpPr txBox="1"/>
          <p:nvPr/>
        </p:nvSpPr>
        <p:spPr>
          <a:xfrm>
            <a:off x="2286000" y="0"/>
            <a:ext cx="4572000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/>
              <a:t>SCREENSHOTS</a:t>
            </a:r>
            <a:endParaRPr lang="en-IN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173EC9-4701-CE56-1EEB-9D944D3978D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" y="0"/>
            <a:ext cx="9141292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3278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867444-F8E5-6A4E-07A9-FF0F5EC34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" y="0"/>
            <a:ext cx="9141292" cy="5143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A03488-2762-BE0E-1846-0CE7289ECF92}"/>
              </a:ext>
            </a:extLst>
          </p:cNvPr>
          <p:cNvSpPr txBox="1"/>
          <p:nvPr/>
        </p:nvSpPr>
        <p:spPr>
          <a:xfrm>
            <a:off x="2481072" y="140131"/>
            <a:ext cx="46695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3E562-3C9D-5D80-A041-4874EF356E41}"/>
              </a:ext>
            </a:extLst>
          </p:cNvPr>
          <p:cNvSpPr txBox="1"/>
          <p:nvPr/>
        </p:nvSpPr>
        <p:spPr>
          <a:xfrm>
            <a:off x="640080" y="619185"/>
            <a:ext cx="80772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T. Zhao, L. Yang, Y. Xie, M. Ding, M. </a:t>
            </a:r>
            <a:r>
              <a:rPr lang="en-IN" b="1" dirty="0" err="1"/>
              <a:t>Tomizuka</a:t>
            </a:r>
            <a:r>
              <a:rPr lang="en-IN" b="1" dirty="0"/>
              <a:t>, and Y. Wei,</a:t>
            </a:r>
            <a:r>
              <a:rPr lang="en-IN" dirty="0"/>
              <a:t> “</a:t>
            </a:r>
            <a:r>
              <a:rPr lang="en-IN" dirty="0" err="1"/>
              <a:t>RoadBEV</a:t>
            </a:r>
            <a:r>
              <a:rPr lang="en-IN" dirty="0"/>
              <a:t>: Road Surface Reconstruction in Bird’s Eye View,” </a:t>
            </a:r>
            <a:r>
              <a:rPr lang="en-IN" i="1" dirty="0"/>
              <a:t>IEEE Transactions on Intelligent Transportation Systems</a:t>
            </a:r>
            <a:r>
              <a:rPr lang="en-IN" dirty="0"/>
              <a:t>, vol. 25, no. 11, pp. 19088–19099, 2024. DOI: 10.1109/TITS.2024.3431671.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R. Ali, Q. Bin Saeed, O. </a:t>
            </a:r>
            <a:r>
              <a:rPr lang="en-IN" b="1" dirty="0" err="1"/>
              <a:t>Buyukozturk</a:t>
            </a:r>
            <a:r>
              <a:rPr lang="en-IN" b="1" dirty="0"/>
              <a:t>, S. Lee, and Y. Cha,</a:t>
            </a:r>
            <a:r>
              <a:rPr lang="en-IN" dirty="0"/>
              <a:t> “Monocular Computer Vision-Based Simultaneous Pothole Segmentation and 3-D Volume Prediction Using 3DpredicNet,” </a:t>
            </a:r>
            <a:r>
              <a:rPr lang="en-IN" i="1" dirty="0"/>
              <a:t>IEEE Transactions on Industrial Informatics</a:t>
            </a:r>
            <a:r>
              <a:rPr lang="en-IN" dirty="0"/>
              <a:t>, 2026. DOI: 10.1109/TII.2026.3706348.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A. Wang, H. Lang, Z. Chen, Y. Peng, S. Ding, and J. J. Lu,</a:t>
            </a:r>
            <a:r>
              <a:rPr lang="en-IN" dirty="0"/>
              <a:t> “The Two-Step Method of </a:t>
            </a:r>
            <a:r>
              <a:rPr lang="en-IN" sz="1600" dirty="0"/>
              <a:t>Pavement</a:t>
            </a:r>
            <a:r>
              <a:rPr lang="en-IN" dirty="0"/>
              <a:t> Pothole and </a:t>
            </a:r>
            <a:r>
              <a:rPr lang="en-IN" dirty="0" err="1"/>
              <a:t>Raveling</a:t>
            </a:r>
            <a:r>
              <a:rPr lang="en-IN" dirty="0"/>
              <a:t> Detection and Segmentation Based on Deep Learning,” </a:t>
            </a:r>
            <a:r>
              <a:rPr lang="en-IN" i="1" dirty="0"/>
              <a:t>IEEE Transactions on Intelligent Transportation Systems</a:t>
            </a:r>
            <a:r>
              <a:rPr lang="en-IN" dirty="0"/>
              <a:t>, vol. 25, no. 6, 2024. DOI: </a:t>
            </a:r>
            <a:r>
              <a:rPr lang="en-IN" sz="1600" dirty="0">
                <a:latin typeface="Calisto MT" panose="02040603050505030304" pitchFamily="18" charset="0"/>
              </a:rPr>
              <a:t>10.1109</a:t>
            </a:r>
            <a:r>
              <a:rPr lang="en-IN" dirty="0"/>
              <a:t>/TITS.2023.3340340.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S. Guo, J. Li, Y. Feng, D. Zhou, D. Zhang, C. Chen, S. Su, X. Zhu, Q. Chen, and R. Fan,</a:t>
            </a:r>
            <a:r>
              <a:rPr lang="en-IN" dirty="0"/>
              <a:t> “UDTIRI: An Online Open-Source Intelligent Road Inspection Benchmark Suite,” </a:t>
            </a:r>
            <a:r>
              <a:rPr lang="en-IN" i="1" dirty="0"/>
              <a:t>IEEE Transactions on Intelligent Transportation Systems</a:t>
            </a:r>
            <a:r>
              <a:rPr lang="en-IN" dirty="0"/>
              <a:t>, vol. 25, no. 8, 2024. DOI: 10.1109/TITS.2024.3351209.</a:t>
            </a:r>
          </a:p>
        </p:txBody>
      </p:sp>
    </p:spTree>
    <p:extLst>
      <p:ext uri="{BB962C8B-B14F-4D97-AF65-F5344CB8AC3E}">
        <p14:creationId xmlns:p14="http://schemas.microsoft.com/office/powerpoint/2010/main" val="27732937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A89B401-92F2-EEA1-73E6-71C1722494D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" y="0"/>
            <a:ext cx="9141292" cy="5143500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2784BA09-46EF-5624-B8D6-2CC0E39612F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59" y="0"/>
            <a:ext cx="9139141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819311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160520" y="1417320"/>
            <a:ext cx="822960" cy="822960"/>
          </a:xfrm>
          <a:prstGeom prst="ellipse">
            <a:avLst/>
          </a:prstGeom>
          <a:solidFill>
            <a:srgbClr val="015CAB"/>
          </a:solidFill>
          <a:ln/>
        </p:spPr>
        <p:txBody>
          <a:bodyPr/>
          <a:lstStyle/>
          <a:p>
            <a:endParaRPr/>
          </a:p>
        </p:txBody>
      </p:sp>
      <p:pic>
        <p:nvPicPr>
          <p:cNvPr id="3" name="Image 0" descr="/home/claude/work/icons/question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1620" y="1528420"/>
            <a:ext cx="600761" cy="600761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0" y="2423160"/>
            <a:ext cx="9144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0B3D6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Queries?</a:t>
            </a:r>
            <a:endParaRPr lang="en-US" sz="3400" dirty="0"/>
          </a:p>
        </p:txBody>
      </p:sp>
      <p:sp>
        <p:nvSpPr>
          <p:cNvPr id="5" name="Text 2"/>
          <p:cNvSpPr/>
          <p:nvPr/>
        </p:nvSpPr>
        <p:spPr>
          <a:xfrm>
            <a:off x="0" y="30632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i="1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your time — happy to answer any questions.</a:t>
            </a:r>
            <a:endParaRPr lang="en-US" sz="1300" dirty="0"/>
          </a:p>
        </p:txBody>
      </p:sp>
      <p:sp>
        <p:nvSpPr>
          <p:cNvPr id="6" name="Text 3"/>
          <p:cNvSpPr/>
          <p:nvPr/>
        </p:nvSpPr>
        <p:spPr>
          <a:xfrm>
            <a:off x="2468880" y="4727448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59595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Department of Computer Science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8275320" y="4727448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AF552-A2AA-C3CC-251A-549D714CD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jpeg">
            <a:extLst>
              <a:ext uri="{FF2B5EF4-FFF2-40B4-BE49-F238E27FC236}">
                <a16:creationId xmlns:a16="http://schemas.microsoft.com/office/drawing/2014/main" id="{6E3F8AEC-F5FC-6241-DE42-5B086AA59B5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DEA41C5-0589-AAD2-8020-0CC0B4223D9C}"/>
              </a:ext>
            </a:extLst>
          </p:cNvPr>
          <p:cNvSpPr txBox="1"/>
          <p:nvPr/>
        </p:nvSpPr>
        <p:spPr>
          <a:xfrm>
            <a:off x="1246271" y="584995"/>
            <a:ext cx="6553561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Times New Roman" pitchFamily="18" charset="0"/>
                <a:cs typeface="Times New Roman" pitchFamily="18" charset="0"/>
              </a:rPr>
              <a:t>RESULTS</a:t>
            </a:r>
            <a:r>
              <a:rPr lang="en-US" sz="3200" b="1" dirty="0">
                <a:latin typeface="Times New Roman" pitchFamily="18" charset="0"/>
                <a:cs typeface="Times New Roman" pitchFamily="18" charset="0"/>
              </a:rPr>
              <a:t/>
            </a:r>
            <a:endParaRPr sz="3100" b="1" dirty="0">
              <a:solidFill>
                <a:srgbClr val="1A1A1A"/>
              </a:solidFill>
              <a:latin typeface="Times New Roman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C256ADD-A4BA-4DE8-A22E-34585B3E1546}"/>
              </a:ext>
            </a:extLst>
          </p:cNvPr>
          <p:cNvSpPr txBox="1"/>
          <p:nvPr/>
        </p:nvSpPr>
        <p:spPr>
          <a:xfrm>
            <a:off x="7388352" y="4206240"/>
            <a:ext cx="4114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>
                <a:solidFill>
                  <a:srgbClr val="FFFFFF"/>
                </a:solidFill>
                <a:latin typeface="Calibri"/>
              </a:rPr>
              <a:t>16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1EC7550-D6D6-9BB8-63BB-45F3D0DFA10A}"/>
              </a:ext>
            </a:extLst>
          </p:cNvPr>
          <p:cNvSpPr txBox="1"/>
          <p:nvPr/>
        </p:nvSpPr>
        <p:spPr>
          <a:xfrm>
            <a:off x="841247" y="1268087"/>
            <a:ext cx="6699864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Training:</a:t>
            </a:r>
            <a:r>
              <a:rPr lang="en-IN" dirty="0"/>
              <a:t> ≈3,000 images, 3 classes, 60 epochs (≈28 min, RTX 4060)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Precision / Recall:</a:t>
            </a:r>
            <a:r>
              <a:rPr lang="en-IN" dirty="0"/>
              <a:t> 0.882 / 0.852 (best epoch 51, all classes)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F1-score:</a:t>
            </a:r>
            <a:r>
              <a:rPr lang="en-IN" dirty="0"/>
              <a:t> 0.867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mAP@0.5 / mAP@0.5:0.95:</a:t>
            </a:r>
            <a:r>
              <a:rPr lang="en-IN" dirty="0"/>
              <a:t> 0.897 / 0.595 on 491 validation images</a:t>
            </a:r>
            <a:r>
              <a:rPr lang="en-IN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Phone link:</a:t>
            </a:r>
            <a:r>
              <a:rPr lang="en-IN" dirty="0"/>
              <a:t> ≈14 fps with live motion data; GPS accuracy ≈ ±8 m</a:t>
            </a:r>
            <a:r>
              <a:rPr lang="en-IN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Cloud tests:</a:t>
            </a:r>
            <a:r>
              <a:rPr lang="en-IN" dirty="0"/>
              <a:t> 28/28 automated tests pass</a:t>
            </a:r>
            <a:r>
              <a:rPr lang="en-IN" dirty="0" err="1"/>
              <a:t/>
            </a:r>
            <a:r>
              <a:rPr lang="en-IN" dirty="0"/>
              <a:t/>
            </a:r>
            <a:r>
              <a:rPr lang="en-IN" dirty="0" err="1"/>
              <a:t/>
            </a:r>
            <a:r>
              <a:rPr lang="en-IN" dirty="0"/>
              <a:t/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Fleet simulator:</a:t>
            </a:r>
            <a:r>
              <a:rPr lang="en-IN" dirty="0"/>
              <a:t> 48 reports – 47 accepted, 1 outside rejected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De-duplication:</a:t>
            </a:r>
            <a:r>
              <a:rPr lang="en-IN" dirty="0"/>
              <a:t> repeat reports merged into one pothole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Repairs:</a:t>
            </a:r>
            <a:r>
              <a:rPr lang="en-IN" dirty="0"/>
              <a:t> pothole seen after repair shown as REOPENED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Tickets:</a:t>
            </a:r>
            <a:r>
              <a:rPr lang="en-IN" dirty="0"/>
              <a:t> raised at 3 detections for the municipal office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3B0BC9D4-A144-9AC3-9C9A-210768500D9F}"/>
              </a:ext>
            </a:extLst>
          </p:cNvPr>
          <p:cNvSpPr txBox="1"/>
          <p:nvPr/>
        </p:nvSpPr>
        <p:spPr>
          <a:xfrm>
            <a:off x="2316659" y="4536370"/>
            <a:ext cx="3749039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900" dirty="0">
                <a:solidFill>
                  <a:srgbClr val="595959"/>
                </a:solidFill>
                <a:latin typeface="Calibri"/>
              </a:rPr>
              <a:t>Department of Computer Science</a:t>
            </a:r>
          </a:p>
        </p:txBody>
      </p:sp>
    </p:spTree>
    <p:extLst>
      <p:ext uri="{BB962C8B-B14F-4D97-AF65-F5344CB8AC3E}">
        <p14:creationId xmlns:p14="http://schemas.microsoft.com/office/powerpoint/2010/main" val="406224122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9867444-F8E5-6A4E-07A9-FF0F5EC34C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54" y="0"/>
            <a:ext cx="9141292" cy="51435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55A03488-2762-BE0E-1846-0CE7289ECF92}"/>
              </a:ext>
            </a:extLst>
          </p:cNvPr>
          <p:cNvSpPr txBox="1"/>
          <p:nvPr/>
        </p:nvSpPr>
        <p:spPr>
          <a:xfrm>
            <a:off x="2481072" y="140131"/>
            <a:ext cx="466953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REFERENCES</a:t>
            </a:r>
            <a:endParaRPr lang="en-IN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313E562-3C9D-5D80-A041-4874EF356E41}"/>
              </a:ext>
            </a:extLst>
          </p:cNvPr>
          <p:cNvSpPr txBox="1"/>
          <p:nvPr/>
        </p:nvSpPr>
        <p:spPr>
          <a:xfrm>
            <a:off x="640080" y="619185"/>
            <a:ext cx="8077200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X. Huang, J. Cheng, Q. Xiang, J. Dong,</a:t>
            </a:r>
            <a:r>
              <a:rPr lang="en-IN" b="1" dirty="0" err="1"/>
              <a:t> J. Wu, R. Fan,</a:t>
            </a:r>
            <a:r>
              <a:rPr lang="en-IN" b="1" dirty="0"/>
              <a:t> and X. Tang,</a:t>
            </a:r>
            <a:r>
              <a:rPr lang="en-IN" dirty="0"/>
              <a:t> “LEPS</a:t>
            </a:r>
            <a:r>
              <a:rPr lang="en-IN" dirty="0" err="1"/>
              <a:t>: A Lightweight and Effective Single-Stage Detector for Pothole Segmentation,” </a:t>
            </a:r>
            <a:r>
              <a:rPr lang="en-IN" dirty="0"/>
              <a:t/>
            </a:r>
            <a:r>
              <a:rPr lang="en-IN" i="1" dirty="0"/>
              <a:t>IEEE Sensors Journal</a:t>
            </a:r>
            <a:r>
              <a:rPr lang="en-IN" dirty="0"/>
              <a:t>, 2024.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G. Jocher, A. Chaurasia, and J. Qiu,</a:t>
            </a:r>
            <a:r>
              <a:rPr lang="en-IN" b="1" dirty="0" err="1"/>
              <a:t/>
            </a:r>
            <a:r>
              <a:rPr lang="en-IN" b="1" dirty="0"/>
              <a:t/>
            </a:r>
            <a:r>
              <a:rPr lang="en-IN" dirty="0"/>
              <a:t> “Ultralytics YOLOv8,” </a:t>
            </a:r>
            <a:r>
              <a:rPr lang="en-IN" i="1" dirty="0"/>
              <a:t>GitHub repository</a:t>
            </a:r>
            <a:r>
              <a:rPr lang="en-IN" dirty="0"/>
              <a:t>, version 8.0.0, 2023. https://github.com/ultralytics/ultralytics</a:t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Gemini Team, Google,</a:t>
            </a:r>
            <a:r>
              <a:rPr lang="en-IN" dirty="0"/>
              <a:t> “Gemini: A Family of Highly Capable Multimodal Models,” </a:t>
            </a:r>
            <a:r>
              <a:rPr lang="en-IN" sz="1600" dirty="0"/>
              <a:t/>
            </a:r>
            <a:r>
              <a:rPr lang="en-IN" dirty="0"/>
              <a:t/>
            </a:r>
            <a:r>
              <a:rPr lang="en-IN" dirty="0" err="1"/>
              <a:t/>
            </a:r>
            <a:r>
              <a:rPr lang="en-IN" dirty="0"/>
              <a:t/>
            </a:r>
            <a:r>
              <a:rPr lang="en-IN" i="1" dirty="0"/>
              <a:t>arXiv:2312.11805</a:t>
            </a:r>
            <a:r>
              <a:rPr lang="en-IN" dirty="0"/>
              <a:t>, 2023.</a:t>
            </a:r>
            <a:r>
              <a:rPr lang="en-IN" sz="1600" dirty="0">
                <a:latin typeface="Calisto MT" panose="02040603050505030304" pitchFamily="18" charset="0"/>
              </a:rPr>
              <a:t/>
            </a:r>
            <a:r>
              <a:rPr lang="en-IN" dirty="0"/>
              <a:t/>
            </a:r>
          </a:p>
          <a:p>
            <a:pPr marL="342900" lvl="0" indent="-342900">
              <a:buFont typeface="+mj-lt"/>
              <a:buAutoNum type="arabicPeriod"/>
            </a:pPr>
            <a:r>
              <a:rPr lang="en-IN" b="1" dirty="0"/>
              <a:t>M. Ester, H.-P. Kriegel, J. Sander, and X. Xu,</a:t>
            </a:r>
            <a:r>
              <a:rPr lang="en-IN" dirty="0"/>
              <a:t> “A Density-Based Algorithm for Discovering Clusters in Large Spatial Databases with Noise,” </a:t>
            </a:r>
            <a:r>
              <a:rPr lang="en-IN" i="1" dirty="0"/>
              <a:t>Proc. KDD</a:t>
            </a:r>
            <a:r>
              <a:rPr lang="en-IN" dirty="0"/>
              <a:t>, pp. 226–231, 1996.</a:t>
            </a:r>
          </a:p>
        </p:txBody>
      </p:sp>
    </p:spTree>
    <p:extLst>
      <p:ext uri="{BB962C8B-B14F-4D97-AF65-F5344CB8AC3E}">
        <p14:creationId xmlns:p14="http://schemas.microsoft.com/office/powerpoint/2010/main" val="277329371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183</TotalTime>
  <Words>1914</Words>
  <Application>Microsoft Office PowerPoint</Application>
  <PresentationFormat>On-screen Show (16:9)</PresentationFormat>
  <Paragraphs>263</Paragraphs>
  <Slides>20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Calibri</vt:lpstr>
      <vt:lpstr>Calibri </vt:lpstr>
      <vt:lpstr>Calisto MT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Paladugu akshitha</cp:lastModifiedBy>
  <cp:revision>8</cp:revision>
  <dcterms:created xsi:type="dcterms:W3CDTF">2026-07-14T11:12:26Z</dcterms:created>
  <dcterms:modified xsi:type="dcterms:W3CDTF">2026-10-07T15:20:11Z</dcterms:modified>
</cp:coreProperties>
</file>