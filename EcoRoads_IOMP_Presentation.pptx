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0" y="4645152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85632" y="466344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68680"/>
            <a:ext cx="59436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1B2A5E"/>
                </a:solidFill>
                <a:latin typeface="Cambria"/>
              </a:rPr>
              <a:t>EcoRoads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694944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0" i="0">
                <a:solidFill>
                  <a:srgbClr val="222630"/>
                </a:solidFill>
                <a:latin typeface="Cambria"/>
              </a:rPr>
              <a:t>AI-Powered Pothole Detection and Automated Municipal Repair Reporting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42062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2A5E"/>
                </a:solidFill>
                <a:latin typeface="Cambria"/>
              </a:rPr>
              <a:t>Team Details</a:t>
            </a:r>
          </a:p>
          <a:p>
            <a:pPr algn="l" marL="155448" indent="-137160">
              <a:spcAft>
                <a:spcPts val="300"/>
              </a:spcAft>
              <a:buAutoNum type="arabicPeriod"/>
            </a:pPr>
            <a:r>
              <a:rPr sz="1400" b="0" i="0">
                <a:solidFill>
                  <a:srgbClr val="222630"/>
                </a:solidFill>
                <a:latin typeface="Cambria"/>
              </a:rPr>
              <a:t>Berelly Sri Charan Reddy (23EG105J12)</a:t>
            </a:r>
          </a:p>
          <a:p>
            <a:pPr algn="l" marL="155448" indent="-137160">
              <a:spcAft>
                <a:spcPts val="300"/>
              </a:spcAft>
              <a:buAutoNum type="arabicPeriod"/>
            </a:pPr>
            <a:r>
              <a:rPr sz="1400" b="0" i="0">
                <a:solidFill>
                  <a:srgbClr val="222630"/>
                </a:solidFill>
                <a:latin typeface="Cambria"/>
              </a:rPr>
              <a:t>Eeraboina Hansika Yadav (23EG105J20)</a:t>
            </a:r>
          </a:p>
          <a:p>
            <a:pPr algn="l" marL="155448" indent="-137160">
              <a:spcAft>
                <a:spcPts val="300"/>
              </a:spcAft>
              <a:buAutoNum type="arabicPeriod"/>
            </a:pPr>
            <a:r>
              <a:rPr sz="1400" b="0" i="0">
                <a:solidFill>
                  <a:srgbClr val="222630"/>
                </a:solidFill>
                <a:latin typeface="Cambria"/>
              </a:rPr>
              <a:t>Paladugu Akshitha (23EG105J47)</a:t>
            </a:r>
          </a:p>
          <a:p>
            <a:pPr algn="l" marL="155448" indent="-137160">
              <a:spcAft>
                <a:spcPts val="300"/>
              </a:spcAft>
              <a:buAutoNum type="arabicPeriod"/>
            </a:pPr>
            <a:r>
              <a:rPr sz="1400" b="0" i="0">
                <a:solidFill>
                  <a:srgbClr val="222630"/>
                </a:solidFill>
                <a:latin typeface="Cambria"/>
              </a:rPr>
              <a:t>Gunti Chinni Krishna (23EG105J27)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2468880"/>
            <a:ext cx="292608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1B2A5E"/>
                </a:solidFill>
                <a:latin typeface="Cambria"/>
              </a:rPr>
              <a:t>Project Guide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22630"/>
                </a:solidFill>
                <a:latin typeface="Cambria"/>
              </a:rPr>
              <a:t>Mr. Sadanandam Kalvala</a:t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22630"/>
                </a:solidFill>
                <a:latin typeface="Cambria"/>
              </a:rPr>
              <a:t>Designation (to be filled)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457200"/>
            <a:ext cx="56235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1B2A5E"/>
                </a:solidFill>
                <a:latin typeface="Cambria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645152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466344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7863840" cy="2788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222630"/>
                </a:solidFill>
                <a:latin typeface="Calibri"/>
              </a:rPr>
              <a:t>Potholes damage vehicles, cause accidents and raise road-maintenance costs, yet most municipalities still learn about them through periodic surveys and citizen complaints. Deep-learning detectors can find potholes accurately, but published systems usually stop at detection and leave de-duplication, routing and complaint writing to people.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222630"/>
                </a:solidFill>
                <a:latin typeface="Calibri"/>
              </a:rPr>
              <a:t>EcoRoads follows a pothole from the camera to a repair ticket. A windscreen-mounted smartphone streams video, GPS and accelerometer data over HTTPS to a laptop, where YOLOv8n detects potholes in real time on the GPU. Each pothole is stored once with a severity score (confidence, size and measured jolt), kept in SQLite while offline, and uploaded as five numeric fields only. A FastAPI + PostgreSQL cloud service keeps reports on public roads inside a registered municipality, merges repeats with DBSCAN and computes the Haversine distance to that municipality's single office. After a pothole is detected three times, Google Gemini drafts a repair ticket automatically (template fallback), and each municipality tracks hazards, tickets and repairs on a live Leaflet map.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222630"/>
                </a:solidFill>
                <a:latin typeface="Calibri"/>
              </a:rPr>
              <a:t>The detector reached precision 0.882, recall 0.852 and mAP@0.5 0.897 on 491 validation images; in a road test the system logged 22 detections and raised 2 tickets without human input.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75895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2A5E"/>
                </a:solidFill>
                <a:latin typeface="Calibri"/>
              </a:rPr>
              <a:t>Keywords: </a:t>
            </a:r>
            <a:r>
              <a:rPr sz="1200" b="0" i="1">
                <a:solidFill>
                  <a:srgbClr val="222630"/>
                </a:solidFill>
                <a:latin typeface="Calibri"/>
              </a:rPr>
              <a:t>Pothole detection, YOLOv8, edge computing, smartphone sensing, DBSCAN, Haversine formula, large language model, automated repair reporting, smart city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457200"/>
            <a:ext cx="56235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1B2A5E"/>
                </a:solidFill>
                <a:latin typeface="Cambria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645152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466344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70432"/>
            <a:ext cx="3794760" cy="150876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640080" y="1298448"/>
            <a:ext cx="384048" cy="384048"/>
          </a:xfrm>
          <a:prstGeom prst="ellipse">
            <a:avLst/>
          </a:prstGeom>
          <a:solidFill>
            <a:srgbClr val="0B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70" y="1382938"/>
            <a:ext cx="215066" cy="215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298448"/>
            <a:ext cx="309067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5E"/>
                </a:solidFill>
                <a:latin typeface="Calibri"/>
              </a:rPr>
              <a:t>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737360"/>
            <a:ext cx="3575304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150" b="0" i="0">
                <a:solidFill>
                  <a:srgbClr val="222630"/>
                </a:solidFill>
                <a:latin typeface="Calibri"/>
              </a:rPr>
              <a:t>Potholes grow quickly and damage tyres and suspensions.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150" b="0" i="0">
                <a:solidFill>
                  <a:srgbClr val="222630"/>
                </a:solidFill>
                <a:latin typeface="Calibri"/>
              </a:rPr>
              <a:t>Cities still find them through inspections and complaints.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170432"/>
            <a:ext cx="3794760" cy="150876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617720" y="1298448"/>
            <a:ext cx="384048" cy="384048"/>
          </a:xfrm>
          <a:prstGeom prst="ellipse">
            <a:avLst/>
          </a:prstGeom>
          <a:solidFill>
            <a:srgbClr val="0B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210" y="1382938"/>
            <a:ext cx="215066" cy="2150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93207" y="1298448"/>
            <a:ext cx="309067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5E"/>
                </a:solidFill>
                <a:latin typeface="Calibri"/>
              </a:rPr>
              <a:t>Domain / Technology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737360"/>
            <a:ext cx="3575304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150" b="0" i="0">
                <a:solidFill>
                  <a:srgbClr val="222630"/>
                </a:solidFill>
                <a:latin typeface="Calibri"/>
              </a:rPr>
              <a:t>Deep learning: YOLOv8n detection on an edge laptop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150" b="0" i="0">
                <a:solidFill>
                  <a:srgbClr val="222630"/>
                </a:solidFill>
                <a:latin typeface="Calibri"/>
              </a:rPr>
              <a:t>Geospatial: GPS, DBSCAN, Haversine, OpenStreetMap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150" b="0" i="0">
                <a:solidFill>
                  <a:srgbClr val="222630"/>
                </a:solidFill>
                <a:latin typeface="Calibri"/>
              </a:rPr>
              <a:t>Cloud: FastAPI + Google Gemini LLM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770632"/>
            <a:ext cx="3794760" cy="150876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0080" y="2898648"/>
            <a:ext cx="384048" cy="384048"/>
          </a:xfrm>
          <a:prstGeom prst="ellipse">
            <a:avLst/>
          </a:prstGeom>
          <a:solidFill>
            <a:srgbClr val="0B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570" y="2983138"/>
            <a:ext cx="215066" cy="21506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15568" y="2898648"/>
            <a:ext cx="309067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5E"/>
                </a:solidFill>
                <a:latin typeface="Calibri"/>
              </a:rPr>
              <a:t>Motivation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3337560"/>
            <a:ext cx="3575304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150" b="0" i="0">
                <a:solidFill>
                  <a:srgbClr val="222630"/>
                </a:solidFill>
                <a:latin typeface="Calibri"/>
              </a:rPr>
              <a:t>Vehicles drive over every damaged road, but that information never reaches the repair office.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150" b="0" i="0">
                <a:solidFill>
                  <a:srgbClr val="222630"/>
                </a:solidFill>
                <a:latin typeface="Calibri"/>
              </a:rPr>
              <a:t>Research systems stop at a bounding box.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2770632"/>
            <a:ext cx="3794760" cy="150876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4617720" y="2898648"/>
            <a:ext cx="384048" cy="384048"/>
          </a:xfrm>
          <a:prstGeom prst="ellipse">
            <a:avLst/>
          </a:prstGeom>
          <a:solidFill>
            <a:srgbClr val="0B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2210" y="2983138"/>
            <a:ext cx="215066" cy="21506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93207" y="2898648"/>
            <a:ext cx="309067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5E"/>
                </a:solidFill>
                <a:latin typeface="Calibri"/>
              </a:rPr>
              <a:t>Real-World Relevance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3337560"/>
            <a:ext cx="3575304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150" b="0" i="0">
                <a:solidFill>
                  <a:srgbClr val="222630"/>
                </a:solidFill>
                <a:latin typeface="Calibri"/>
              </a:rPr>
              <a:t>Smart-city road maintenance with a phone + laptop instead of costly survey vans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150" b="0" i="0">
                <a:solidFill>
                  <a:srgbClr val="222630"/>
                </a:solidFill>
                <a:latin typeface="Calibri"/>
              </a:rPr>
              <a:t>Faster repairs, fewer accidents, lower maintenance cost for municipalities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457200"/>
            <a:ext cx="56235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1B2A5E"/>
                </a:solidFill>
                <a:latin typeface="Cambria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645152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466344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2514600" cy="301752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640080" y="1316736"/>
            <a:ext cx="384048" cy="38404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70" y="1401226"/>
            <a:ext cx="215066" cy="215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316736"/>
            <a:ext cx="181051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5E"/>
                </a:solidFill>
                <a:latin typeface="Calibri"/>
              </a:rPr>
              <a:t>Existing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755648"/>
            <a:ext cx="2295144" cy="23774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250" b="0" i="0">
                <a:solidFill>
                  <a:srgbClr val="222630"/>
                </a:solidFill>
                <a:latin typeface="Calibri"/>
              </a:rPr>
              <a:t>Potholes are found late, through scheduled surveys or citizen complaints.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250" b="0" i="0">
                <a:solidFill>
                  <a:srgbClr val="222630"/>
                </a:solidFill>
                <a:latin typeface="Calibri"/>
              </a:rPr>
              <a:t>Complaints often lack an exact location and severity is judged by eye.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27248" y="1188720"/>
            <a:ext cx="2514600" cy="301752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3264408" y="1316736"/>
            <a:ext cx="384048" cy="38404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8898" y="1401226"/>
            <a:ext cx="215066" cy="2150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739896" y="1316736"/>
            <a:ext cx="181051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5E"/>
                </a:solidFill>
                <a:latin typeface="Calibri"/>
              </a:rPr>
              <a:t>Challenges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6976" y="1755648"/>
            <a:ext cx="2295144" cy="23774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250" b="0" i="0">
                <a:solidFill>
                  <a:srgbClr val="222630"/>
                </a:solidFill>
                <a:latin typeface="Calibri"/>
              </a:rPr>
              <a:t>Many vehicles report the same pothole: duplicates.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250" b="0" i="0">
                <a:solidFill>
                  <a:srgbClr val="222630"/>
                </a:solidFill>
                <a:latin typeface="Calibri"/>
              </a:rPr>
              <a:t>Nobody knows which municipality and office own the road.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250" b="0" i="0">
                <a:solidFill>
                  <a:srgbClr val="222630"/>
                </a:solidFill>
                <a:latin typeface="Calibri"/>
              </a:rPr>
              <a:t>Writing complaints is manual; repairs are not tracked.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51576" y="1188720"/>
            <a:ext cx="2514600" cy="301752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888736" y="1316736"/>
            <a:ext cx="384048" cy="384048"/>
          </a:xfrm>
          <a:prstGeom prst="ellipse">
            <a:avLst/>
          </a:prstGeom>
          <a:solidFill>
            <a:srgbClr val="1E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3226" y="1401226"/>
            <a:ext cx="215066" cy="21506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64224" y="1316736"/>
            <a:ext cx="181051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5E"/>
                </a:solidFill>
                <a:latin typeface="Calibri"/>
              </a:rPr>
              <a:t>Need for the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61304" y="1755648"/>
            <a:ext cx="2295144" cy="23774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250" b="0" i="0">
                <a:solidFill>
                  <a:srgbClr val="222630"/>
                </a:solidFill>
                <a:latin typeface="Calibri"/>
              </a:rPr>
              <a:t>Real-time detection on affordable hardware.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250" b="0" i="0">
                <a:solidFill>
                  <a:srgbClr val="222630"/>
                </a:solidFill>
                <a:latin typeface="Calibri"/>
              </a:rPr>
              <a:t>One record per pothole, routed to the right office.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250" b="0" i="0">
                <a:solidFill>
                  <a:srgbClr val="222630"/>
                </a:solidFill>
                <a:latin typeface="Calibri"/>
              </a:rPr>
              <a:t>Automatic repair ticket and a live view of repair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457200"/>
            <a:ext cx="56235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1B2A5E"/>
                </a:solidFill>
                <a:latin typeface="Cambria"/>
              </a:rPr>
              <a:t>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645152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466344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3794760" cy="301752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640080" y="1316736"/>
            <a:ext cx="384048" cy="384048"/>
          </a:xfrm>
          <a:prstGeom prst="ellipse">
            <a:avLst/>
          </a:prstGeom>
          <a:solidFill>
            <a:srgbClr val="0B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70" y="1401226"/>
            <a:ext cx="215066" cy="215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316736"/>
            <a:ext cx="309067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5E"/>
                </a:solidFill>
                <a:latin typeface="Calibri"/>
              </a:rPr>
              <a:t>Existing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755648"/>
            <a:ext cx="3575304" cy="23774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250" b="0" i="0">
                <a:solidFill>
                  <a:srgbClr val="222630"/>
                </a:solidFill>
                <a:latin typeface="Calibri"/>
              </a:rPr>
              <a:t>Manual road inspections by municipal engineers.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250" b="0" i="0">
                <a:solidFill>
                  <a:srgbClr val="222630"/>
                </a:solidFill>
                <a:latin typeface="Calibri"/>
              </a:rPr>
              <a:t>Citizen complaints by phone, apps or social media.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250" b="0" i="0">
                <a:solidFill>
                  <a:srgbClr val="222630"/>
                </a:solidFill>
                <a:latin typeface="Calibri"/>
              </a:rPr>
              <a:t>Research models (LEPS, two-step YOLOX + DSASNet, RoadBEV, 3DpredicNet) detect or measure potholes from images, laser scans or stereo cameras.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188720"/>
            <a:ext cx="3794760" cy="301752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617720" y="1316736"/>
            <a:ext cx="384048" cy="38404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210" y="1401226"/>
            <a:ext cx="215066" cy="2150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93208" y="1316736"/>
            <a:ext cx="309067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5E"/>
                </a:solidFill>
                <a:latin typeface="Calibri"/>
              </a:rPr>
              <a:t>Limitations &amp; Problems Identified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755648"/>
            <a:ext cx="3575304" cy="23774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250" b="0" i="0">
                <a:solidFill>
                  <a:srgbClr val="222630"/>
                </a:solidFill>
                <a:latin typeface="Calibri"/>
              </a:rPr>
              <a:t>Slow, infrequent and costly surveys; locations are vague.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250" b="0" i="0">
                <a:solidFill>
                  <a:srgbClr val="222630"/>
                </a:solidFill>
                <a:latin typeface="Calibri"/>
              </a:rPr>
              <a:t>Detection systems end at a mask or box: no de-duplication, no owner, no ticket.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250" b="0" i="0">
                <a:solidFill>
                  <a:srgbClr val="222630"/>
                </a:solidFill>
                <a:latin typeface="Calibri"/>
              </a:rPr>
              <a:t>Some need laser scanners or stereo rigs, or are too heavy for real-time edge use.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250" b="0" i="0">
                <a:solidFill>
                  <a:srgbClr val="222630"/>
                </a:solidFill>
                <a:latin typeface="Calibri"/>
              </a:rPr>
              <a:t>Sensitive to shadows, wet roads and lighting.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250" b="0" i="0">
                <a:solidFill>
                  <a:srgbClr val="222630"/>
                </a:solidFill>
                <a:latin typeface="Calibri"/>
              </a:rPr>
              <a:t>No follow-up: repaired or reappearing potholes are not tracked.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457200"/>
            <a:ext cx="56235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1B2A5E"/>
                </a:solidFill>
                <a:latin typeface="Cambria"/>
              </a:rPr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645152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466344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77724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B2A5E"/>
                </a:solidFill>
                <a:latin typeface="Calibri"/>
              </a:rPr>
              <a:t>Proposed solution: </a:t>
            </a:r>
            <a:r>
              <a:rPr sz="1250" b="0" i="0">
                <a:solidFill>
                  <a:srgbClr val="222630"/>
                </a:solidFill>
                <a:latin typeface="Calibri"/>
              </a:rPr>
              <a:t>EcoRoads closes the loop from road capture to a repair ticket in the responsible office's inbox.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36192"/>
            <a:ext cx="1463040" cy="160020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042416" y="1645920"/>
            <a:ext cx="384048" cy="384048"/>
          </a:xfrm>
          <a:prstGeom prst="ellipse">
            <a:avLst/>
          </a:prstGeom>
          <a:solidFill>
            <a:srgbClr val="0B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906" y="1730410"/>
            <a:ext cx="215066" cy="2150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2066543"/>
            <a:ext cx="13716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1B2A5E"/>
                </a:solidFill>
                <a:latin typeface="Calibri"/>
              </a:rPr>
              <a:t>Edge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59152"/>
            <a:ext cx="1335024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222630"/>
                </a:solidFill>
                <a:latin typeface="Calibri"/>
              </a:rPr>
              <a:t>Windscreen phone feeds YOLOv8n on the laptop GPU; works offline.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75688" y="1536192"/>
            <a:ext cx="1463040" cy="160020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2615184" y="1645920"/>
            <a:ext cx="384048" cy="384048"/>
          </a:xfrm>
          <a:prstGeom prst="ellipse">
            <a:avLst/>
          </a:prstGeom>
          <a:solidFill>
            <a:srgbClr val="0B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674" y="1730410"/>
            <a:ext cx="215066" cy="2150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21408" y="2066543"/>
            <a:ext cx="13716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1B2A5E"/>
                </a:solidFill>
                <a:latin typeface="Calibri"/>
              </a:rPr>
              <a:t>Offline-First 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9696" y="2359152"/>
            <a:ext cx="1335024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222630"/>
                </a:solidFill>
                <a:latin typeface="Calibri"/>
              </a:rPr>
              <a:t>SQLite queue; only 5 numeric fields uploaded, never images.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48456" y="1536192"/>
            <a:ext cx="1463040" cy="160020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4187952" y="1645920"/>
            <a:ext cx="384048" cy="384048"/>
          </a:xfrm>
          <a:prstGeom prst="ellipse">
            <a:avLst/>
          </a:prstGeom>
          <a:solidFill>
            <a:srgbClr val="0B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2442" y="1730410"/>
            <a:ext cx="215066" cy="21506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694176" y="2066543"/>
            <a:ext cx="13716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1B2A5E"/>
                </a:solidFill>
                <a:latin typeface="Calibri"/>
              </a:rPr>
              <a:t>Filter &amp; Merge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2464" y="2359152"/>
            <a:ext cx="1335024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222630"/>
                </a:solidFill>
                <a:latin typeface="Calibri"/>
              </a:rPr>
              <a:t>Public-road + municipality check; DBSCAN (15 m) merges repeats.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21224" y="1536192"/>
            <a:ext cx="1463040" cy="160020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5760720" y="1645920"/>
            <a:ext cx="384048" cy="384048"/>
          </a:xfrm>
          <a:prstGeom prst="ellipse">
            <a:avLst/>
          </a:prstGeom>
          <a:solidFill>
            <a:srgbClr val="0B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5210" y="1730410"/>
            <a:ext cx="215066" cy="21506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66944" y="2066543"/>
            <a:ext cx="13716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1B2A5E"/>
                </a:solidFill>
                <a:latin typeface="Calibri"/>
              </a:rPr>
              <a:t>Auto Ticketing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5232" y="2359152"/>
            <a:ext cx="1335024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222630"/>
                </a:solidFill>
                <a:latin typeface="Calibri"/>
              </a:rPr>
              <a:t>At 3 detections Gemini drafts a ticket for the municipal office.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93992" y="1536192"/>
            <a:ext cx="1463040" cy="160020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7333488" y="1645920"/>
            <a:ext cx="384048" cy="384048"/>
          </a:xfrm>
          <a:prstGeom prst="ellipse">
            <a:avLst/>
          </a:prstGeom>
          <a:solidFill>
            <a:srgbClr val="0B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7978" y="1730410"/>
            <a:ext cx="215066" cy="21506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39712" y="2066543"/>
            <a:ext cx="13716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1B2A5E"/>
                </a:solidFill>
                <a:latin typeface="Calibri"/>
              </a:rPr>
              <a:t>Live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359152"/>
            <a:ext cx="1335024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222630"/>
                </a:solidFill>
                <a:latin typeface="Calibri"/>
              </a:rPr>
              <a:t>Per-municipality map: hazards, office, tickets, repaired / reopened.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246120"/>
            <a:ext cx="768096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B2A5E"/>
                </a:solidFill>
                <a:latin typeface="Calibri"/>
              </a:rPr>
              <a:t>Advantages over the existing system</a:t>
            </a:r>
          </a:p>
          <a:p>
            <a:pPr algn="l" marL="155448" indent="-137160">
              <a:spcAft>
                <a:spcPts val="200"/>
              </a:spcAft>
              <a:buClr>
                <a:srgbClr val="0B4EA2"/>
              </a:buClr>
              <a:buFont typeface="Arial"/>
              <a:buChar char="•"/>
            </a:pPr>
            <a:r>
              <a:rPr sz="1150" b="1" i="0">
                <a:solidFill>
                  <a:srgbClr val="1B2A5E"/>
                </a:solidFill>
                <a:latin typeface="Calibri"/>
              </a:rPr>
              <a:t>End-to-end: </a:t>
            </a:r>
            <a:r>
              <a:rPr sz="1150" b="0" i="0">
                <a:solidFill>
                  <a:srgbClr val="222630"/>
                </a:solidFill>
                <a:latin typeface="Calibri"/>
              </a:rPr>
              <a:t>detection, merging, routing, ticketing and repair tracking with no manual hand-off</a:t>
            </a:r>
          </a:p>
          <a:p>
            <a:pPr algn="l" marL="155448" indent="-137160">
              <a:spcAft>
                <a:spcPts val="200"/>
              </a:spcAft>
              <a:buClr>
                <a:srgbClr val="0B4EA2"/>
              </a:buClr>
              <a:buFont typeface="Arial"/>
              <a:buChar char="•"/>
            </a:pPr>
            <a:r>
              <a:rPr sz="1150" b="1" i="0">
                <a:solidFill>
                  <a:srgbClr val="1B2A5E"/>
                </a:solidFill>
                <a:latin typeface="Calibri"/>
              </a:rPr>
              <a:t>Low cost: </a:t>
            </a:r>
            <a:r>
              <a:rPr sz="1150" b="0" i="0">
                <a:solidFill>
                  <a:srgbClr val="222630"/>
                </a:solidFill>
                <a:latin typeface="Calibri"/>
              </a:rPr>
              <a:t>ordinary phone + laptop; private: no images leave the vehicle; reliable: works without network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457200"/>
            <a:ext cx="56235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B2A5E"/>
                </a:solidFill>
                <a:latin typeface="Cambria"/>
              </a:rPr>
              <a:t>Literature Survey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645152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466344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88720"/>
          <a:ext cx="8092436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430"/>
                <a:gridCol w="840198"/>
                <a:gridCol w="1061303"/>
                <a:gridCol w="1680397"/>
                <a:gridCol w="1547734"/>
                <a:gridCol w="1193966"/>
                <a:gridCol w="128240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Publisher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Author(s)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Merits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Demerits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IEEE Sensors Journal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X. Huang, J. Cheng, Q. Xiang et al.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LEPS: A Lightweight and Effective Single-Stage Detector for Pothole Segmentation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Single-stage segmenter with edge-and-attention detail module and gradient-contrast attention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Mask AP50 0.892 on UDTIRI; small enough for edge devices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2D masks only (no depth); accuracy drops with noise or occlusion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IEEE Trans. ITS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A. Wang, H. Lang, Z. Chen et al.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The Two-Step Method of Pavement Pothole and Raveling Detection and Segmentation Based on Deep Learning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Modified YOLOX proposes regions; DSASNet segments them from laser intensity + range images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F1 93.65 %, IoU 0.881; separates potholes from raveling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Two networks = higher cost; needs a 3D line-laser scanner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IEEE Trans. ITS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S. Guo, J. Li, Y. Feng et al.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UDTIRI: An Online Open-Source Intelligent Road Inspection Benchmark Suite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Online benchmark with common ground truth and metrics for road-defect tasks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Fair, standard comparison of detectors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An evaluation platform, not a new model or a deployable system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457200"/>
            <a:ext cx="56235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B2A5E"/>
                </a:solidFill>
                <a:latin typeface="Cambria"/>
              </a:rPr>
              <a:t>Literature Survey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645152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466344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88720"/>
          <a:ext cx="809243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430"/>
                <a:gridCol w="840198"/>
                <a:gridCol w="1061303"/>
                <a:gridCol w="1680397"/>
                <a:gridCol w="1547734"/>
                <a:gridCol w="1193966"/>
                <a:gridCol w="128240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Publisher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Author(s)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Merits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Demerits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IEEE Trans. ITS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T. Zhao, L. Yang, Y. Xie et al.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RoadBEV: Road Surface Reconstruction in Bird's Eye View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Lifts camera features into a BEV voxel grid; classifies road-elevation bins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Elevation error 1.83 cm (mono), 0.50 cm (stereo)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Stereo 3D convolutions too heavy for edge; needs precise calibration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IEEE Trans. Industrial Informatics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R. Ali, Q. Bin Saeed, O. Buyukozturk et al.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Monocular Computer Vision-Based Simultaneous Pothole Segmentation and 3-D Volume Prediction Using 3DpredicNet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One RGB camera; multi-scale convolutions with channel, spatial and criss-cross attention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Mask + volume from a low-cost camera, no LiDAR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Sensitive to shadows and wet roads; works per pothole, not per road network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063240"/>
            <a:ext cx="768096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C8102E"/>
                </a:solidFill>
                <a:latin typeface="Calibri"/>
              </a:rPr>
              <a:t>Research gap: </a:t>
            </a:r>
            <a:r>
              <a:rPr sz="1150" b="0" i="0">
                <a:solidFill>
                  <a:srgbClr val="222630"/>
                </a:solidFill>
                <a:latin typeface="Calibri"/>
              </a:rPr>
              <a:t>all five studies end at a mask, box or measurement; none links detection to de-duplication, routing to the responsible office, automatic tickets and repair follow-up. EcoRoads fills this gap.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457200"/>
            <a:ext cx="56235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B2A5E"/>
                </a:solidFill>
                <a:latin typeface="Cambria"/>
              </a:rPr>
              <a:t>Software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645152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466344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77724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7607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Software used in EcoRoads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22630"/>
                          </a:solidFill>
                          <a:latin typeface="Calibri"/>
                        </a:rPr>
                        <a:t>Programming Languages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630"/>
                          </a:solidFill>
                          <a:latin typeface="Calibri"/>
                        </a:rPr>
                        <a:t>Python 3 (detection, training, cloud API), JavaScript (dashboard, phone page), SQL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22630"/>
                          </a:solidFill>
                          <a:latin typeface="Calibri"/>
                        </a:rPr>
                        <a:t>Frameworks &amp; Libraries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630"/>
                          </a:solidFill>
                          <a:latin typeface="Calibri"/>
                        </a:rPr>
                        <a:t>Ultralytics YOLOv8, PyTorch + CUDA, OpenCV, FastAPI + Uvicorn, Pydantic, scikit-learn (DBSCAN), Leaflet.js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22630"/>
                          </a:solidFill>
                          <a:latin typeface="Calibri"/>
                        </a:rPr>
                        <a:t>Databases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630"/>
                          </a:solidFill>
                          <a:latin typeface="Calibri"/>
                        </a:rPr>
                        <a:t>SQLite (offline queue on the vehicle), PostgreSQL on Neon (cloud)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22630"/>
                          </a:solidFill>
                          <a:latin typeface="Calibri"/>
                        </a:rPr>
                        <a:t>APIs &amp; Services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630"/>
                          </a:solidFill>
                          <a:latin typeface="Calibri"/>
                        </a:rPr>
                        <a:t>Google Gemini API (repair tickets), OpenStreetMap tiles + Overpass API (road check)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22630"/>
                          </a:solidFill>
                          <a:latin typeface="Calibri"/>
                        </a:rPr>
                        <a:t>Tools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630"/>
                          </a:solidFill>
                          <a:latin typeface="Calibri"/>
                        </a:rPr>
                        <a:t>Roboflow (pothole dataset), Git + GitHub Desktop (version control), pytest (testing)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22630"/>
                          </a:solidFill>
                          <a:latin typeface="Calibri"/>
                        </a:rPr>
                        <a:t>Development Tool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630"/>
                          </a:solidFill>
                          <a:latin typeface="Calibri"/>
                        </a:rPr>
                        <a:t>VS Code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22630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22630"/>
                          </a:solidFill>
                          <a:latin typeface="Calibri"/>
                        </a:rPr>
                        <a:t>Render (Docker web service) + Neon PostgreSQL; edge node shipped as a Windows ZIP installer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457200"/>
            <a:ext cx="56235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B2A5E"/>
                </a:solidFill>
                <a:latin typeface="Cambria"/>
              </a:rPr>
              <a:t>Hardware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645152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466344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3794760" cy="301752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640080" y="1316736"/>
            <a:ext cx="384048" cy="384048"/>
          </a:xfrm>
          <a:prstGeom prst="ellipse">
            <a:avLst/>
          </a:prstGeom>
          <a:solidFill>
            <a:srgbClr val="0B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70" y="1401226"/>
            <a:ext cx="215066" cy="215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316736"/>
            <a:ext cx="309067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5E"/>
                </a:solidFill>
                <a:latin typeface="Calibri"/>
              </a:rPr>
              <a:t>Development Machine (Edge Node)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755648"/>
            <a:ext cx="3575304" cy="23774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250" b="1" i="0">
                <a:solidFill>
                  <a:srgbClr val="1B2A5E"/>
                </a:solidFill>
                <a:latin typeface="Calibri"/>
              </a:rPr>
              <a:t>Processor: </a:t>
            </a:r>
            <a:r>
              <a:rPr sz="1250" b="0" i="0">
                <a:solidFill>
                  <a:srgbClr val="222630"/>
                </a:solidFill>
                <a:latin typeface="Calibri"/>
              </a:rPr>
              <a:t>Intel Core i5/i7 or AMD Ryzen 5/7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250" b="1" i="0">
                <a:solidFill>
                  <a:srgbClr val="1B2A5E"/>
                </a:solidFill>
                <a:latin typeface="Calibri"/>
              </a:rPr>
              <a:t>RAM: </a:t>
            </a:r>
            <a:r>
              <a:rPr sz="1250" b="0" i="0">
                <a:solidFill>
                  <a:srgbClr val="222630"/>
                </a:solidFill>
                <a:latin typeface="Calibri"/>
              </a:rPr>
              <a:t>8 GB minimum, 16 GB recommended for training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250" b="1" i="0">
                <a:solidFill>
                  <a:srgbClr val="1B2A5E"/>
                </a:solidFill>
                <a:latin typeface="Calibri"/>
              </a:rPr>
              <a:t>Storage: </a:t>
            </a:r>
            <a:r>
              <a:rPr sz="1250" b="0" i="0">
                <a:solidFill>
                  <a:srgbClr val="222630"/>
                </a:solidFill>
                <a:latin typeface="Calibri"/>
              </a:rPr>
              <a:t>256 GB SSD (dataset, models, drive recordings)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250" b="1" i="0">
                <a:solidFill>
                  <a:srgbClr val="1B2A5E"/>
                </a:solidFill>
                <a:latin typeface="Calibri"/>
              </a:rPr>
              <a:t>GPU: </a:t>
            </a:r>
            <a:r>
              <a:rPr sz="1250" b="0" i="0">
                <a:solidFill>
                  <a:srgbClr val="222630"/>
                </a:solidFill>
                <a:latin typeface="Calibri"/>
              </a:rPr>
              <a:t>NVIDIA RTX with CUDA (used: RTX 4060 Laptop, 8 GB)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188720"/>
            <a:ext cx="3794760" cy="141732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617720" y="1316736"/>
            <a:ext cx="384048" cy="384048"/>
          </a:xfrm>
          <a:prstGeom prst="ellipse">
            <a:avLst/>
          </a:prstGeom>
          <a:solidFill>
            <a:srgbClr val="0B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210" y="1401226"/>
            <a:ext cx="215066" cy="2150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93208" y="1316736"/>
            <a:ext cx="309067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5E"/>
                </a:solidFill>
                <a:latin typeface="Calibri"/>
              </a:rPr>
              <a:t>Server /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755648"/>
            <a:ext cx="3575304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100" b="1" i="0">
                <a:solidFill>
                  <a:srgbClr val="1B2A5E"/>
                </a:solidFill>
                <a:latin typeface="Calibri"/>
              </a:rPr>
              <a:t>Render: </a:t>
            </a:r>
            <a:r>
              <a:rPr sz="1100" b="0" i="0">
                <a:solidFill>
                  <a:srgbClr val="222630"/>
                </a:solidFill>
                <a:latin typeface="Calibri"/>
              </a:rPr>
              <a:t>Docker web service for FastAPI + dashboard (no GPU)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100" b="1" i="0">
                <a:solidFill>
                  <a:srgbClr val="1B2A5E"/>
                </a:solidFill>
                <a:latin typeface="Calibri"/>
              </a:rPr>
              <a:t>Neon: </a:t>
            </a:r>
            <a:r>
              <a:rPr sz="1100" b="0" i="0">
                <a:solidFill>
                  <a:srgbClr val="222630"/>
                </a:solidFill>
                <a:latin typeface="Calibri"/>
              </a:rPr>
              <a:t>serverless PostgreSQL; stores only small numeric 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2743200"/>
            <a:ext cx="3794760" cy="146304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617720" y="2871216"/>
            <a:ext cx="384048" cy="384048"/>
          </a:xfrm>
          <a:prstGeom prst="ellipse">
            <a:avLst/>
          </a:prstGeom>
          <a:solidFill>
            <a:srgbClr val="0B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2210" y="2955706"/>
            <a:ext cx="215066" cy="21506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93208" y="2871216"/>
            <a:ext cx="309067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5E"/>
                </a:solidFill>
                <a:latin typeface="Calibri"/>
              </a:rPr>
              <a:t>Mobile Device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3310128"/>
            <a:ext cx="3575304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100" b="0" i="0">
                <a:solidFill>
                  <a:srgbClr val="222630"/>
                </a:solidFill>
                <a:latin typeface="Calibri"/>
              </a:rPr>
              <a:t>Android / iOS phone: rear camera, GPS, accelerometer, Chrome or Safari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100" b="0" i="0">
                <a:solidFill>
                  <a:srgbClr val="222630"/>
                </a:solidFill>
                <a:latin typeface="Calibri"/>
              </a:rPr>
              <a:t>Windscreen mount, car charger, Wi-Fi hotspot to the laptop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457200"/>
            <a:ext cx="56235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B2A5E"/>
                </a:solidFill>
                <a:latin typeface="Cambria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645152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466344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image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672" y="1143000"/>
            <a:ext cx="5406014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457200"/>
            <a:ext cx="56235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B2A5E"/>
                </a:solidFill>
                <a:latin typeface="Cambria"/>
              </a:rPr>
              <a:t>Implementation /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645152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466344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70432"/>
            <a:ext cx="3794760" cy="146304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640080" y="1298448"/>
            <a:ext cx="384048" cy="384048"/>
          </a:xfrm>
          <a:prstGeom prst="ellipse">
            <a:avLst/>
          </a:prstGeom>
          <a:solidFill>
            <a:srgbClr val="0B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70" y="1382938"/>
            <a:ext cx="215066" cy="215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298448"/>
            <a:ext cx="309067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B2A5E"/>
                </a:solidFill>
                <a:latin typeface="Calibri"/>
              </a:rPr>
              <a:t>Module 1 – Edge Capture &amp;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737360"/>
            <a:ext cx="3575304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050" b="0" i="0">
                <a:solidFill>
                  <a:srgbClr val="222630"/>
                </a:solidFill>
                <a:latin typeface="Calibri"/>
              </a:rPr>
              <a:t>phone_bridge.py: phone sends frames, GPS and 60 Hz motion over HTTPS (port 8443)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050" b="0" i="0">
                <a:solidFill>
                  <a:srgbClr val="222630"/>
                </a:solidFill>
                <a:latin typeface="Calibri"/>
              </a:rPr>
              <a:t>capture_detect.py: YOLOv8n on every frame, keeps 'pothole' with confidence ≥ 0.5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170432"/>
            <a:ext cx="3794760" cy="146304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617720" y="1298448"/>
            <a:ext cx="384048" cy="384048"/>
          </a:xfrm>
          <a:prstGeom prst="ellipse">
            <a:avLst/>
          </a:prstGeom>
          <a:solidFill>
            <a:srgbClr val="0B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210" y="1382938"/>
            <a:ext cx="215066" cy="2150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93207" y="1298448"/>
            <a:ext cx="309067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B2A5E"/>
                </a:solidFill>
                <a:latin typeface="Calibri"/>
              </a:rPr>
              <a:t>Module 2 – Severity, Filtering &amp; Sync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737360"/>
            <a:ext cx="3575304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050" b="0" i="0">
                <a:solidFill>
                  <a:srgbClr val="222630"/>
                </a:solidFill>
                <a:latin typeface="Calibri"/>
              </a:rPr>
              <a:t>debouncer.py: one event per pothole; severity = 0.55·conf + 0.45·size, fused 60/40 with jolt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050" b="0" i="0">
                <a:solidFill>
                  <a:srgbClr val="222630"/>
                </a:solidFill>
                <a:latin typeface="Calibri"/>
              </a:rPr>
              <a:t>fusion.py drops unsure, no-bump look-alikes (shadows); SQLite queue + sync_worker.py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743200"/>
            <a:ext cx="3794760" cy="146304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0080" y="2871216"/>
            <a:ext cx="384048" cy="384048"/>
          </a:xfrm>
          <a:prstGeom prst="ellipse">
            <a:avLst/>
          </a:prstGeom>
          <a:solidFill>
            <a:srgbClr val="0B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570" y="2955706"/>
            <a:ext cx="215066" cy="21506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15568" y="2871216"/>
            <a:ext cx="309067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B2A5E"/>
                </a:solidFill>
                <a:latin typeface="Calibri"/>
              </a:rPr>
              <a:t>Module 3 – Cloud Service (FastAPI)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3310128"/>
            <a:ext cx="3575304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050" b="0" i="0">
                <a:solidFill>
                  <a:srgbClr val="222630"/>
                </a:solidFill>
                <a:latin typeface="Calibri"/>
              </a:rPr>
              <a:t>Road + municipality check (Haversine), DBSCAN merge at 15 m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050" b="0" i="0">
                <a:solidFill>
                  <a:srgbClr val="222630"/>
                </a:solidFill>
                <a:latin typeface="Calibri"/>
              </a:rPr>
              <a:t>One office per municipality; ticket raised automatically at 3 detections (Gemini, template fallback)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2743200"/>
            <a:ext cx="3794760" cy="146304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4617720" y="2871216"/>
            <a:ext cx="384048" cy="384048"/>
          </a:xfrm>
          <a:prstGeom prst="ellipse">
            <a:avLst/>
          </a:prstGeom>
          <a:solidFill>
            <a:srgbClr val="0B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2210" y="2955706"/>
            <a:ext cx="215066" cy="21506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93207" y="2871216"/>
            <a:ext cx="309067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B2A5E"/>
                </a:solidFill>
                <a:latin typeface="Calibri"/>
              </a:rPr>
              <a:t>Module 4 – Municipal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3310128"/>
            <a:ext cx="3575304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050" b="0" i="0">
                <a:solidFill>
                  <a:srgbClr val="222630"/>
                </a:solidFill>
                <a:latin typeface="Calibri"/>
              </a:rPr>
              <a:t>Leaflet map: register area, set office, hazards by severity, tickets received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050" b="0" i="0">
                <a:solidFill>
                  <a:srgbClr val="222630"/>
                </a:solidFill>
                <a:latin typeface="Calibri"/>
              </a:rPr>
              <a:t>Mark repaired; a pothole detected again is shown as REOPENED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457200"/>
            <a:ext cx="56235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B2A5E"/>
                </a:solidFill>
                <a:latin typeface="Cambria"/>
              </a:rPr>
              <a:t>Implementation – Code Snippets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645152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466344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3794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B2A5E"/>
                </a:solidFill>
                <a:latin typeface="Calibri"/>
              </a:rPr>
              <a:t>severity.py (edge device)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794760" cy="2240280"/>
          </a:xfrm>
          <a:prstGeom prst="roundRect">
            <a:avLst>
              <a:gd name="adj" fmla="val 4000"/>
            </a:avLst>
          </a:prstGeom>
          <a:solidFill>
            <a:srgbClr val="1E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12648" y="1508760"/>
            <a:ext cx="3611880" cy="2103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E6E9EF"/>
                </a:solidFill>
                <a:latin typeface="Courier New"/>
              </a:rPr>
              <a:t>def compute_severity_pct(confidence,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E6E9EF"/>
                </a:solidFill>
                <a:latin typeface="Courier New"/>
              </a:rPr>
              <a:t>                         bbox_area_pct):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E6E9EF"/>
                </a:solidFill>
                <a:latin typeface="Courier New"/>
              </a:rPr>
              <a:t>    confidence_component = confidence * 100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E6E9EF"/>
                </a:solidFill>
                <a:latin typeface="Courier New"/>
              </a:rPr>
              <a:t>    size_component = min(bbox_area_pct * 8, 100)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E6E9EF"/>
                </a:solidFill>
                <a:latin typeface="Courier New"/>
              </a:rPr>
              <a:t>    severity = (0.55 * confidence_component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E6E9EF"/>
                </a:solidFill>
                <a:latin typeface="Courier New"/>
              </a:rPr>
              <a:t>                + 0.45 * size_component)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E6E9EF"/>
                </a:solidFill>
                <a:latin typeface="Courier New"/>
              </a:rPr>
              <a:t>    return round(min(severity, 100.0),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1115568"/>
            <a:ext cx="3794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B2A5E"/>
                </a:solidFill>
                <a:latin typeface="Calibri"/>
              </a:rPr>
              <a:t>service.py (cloud, simplified)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417320"/>
            <a:ext cx="3794760" cy="2240280"/>
          </a:xfrm>
          <a:prstGeom prst="roundRect">
            <a:avLst>
              <a:gd name="adj" fmla="val 4000"/>
            </a:avLst>
          </a:prstGeom>
          <a:solidFill>
            <a:srgbClr val="1E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90288" y="1508760"/>
            <a:ext cx="3611880" cy="2103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E6E9EF"/>
                </a:solidFill>
                <a:latin typeface="Courier New"/>
              </a:rPr>
              <a:t>def auto_tickets(municipality_ids):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E6E9EF"/>
                </a:solidFill>
                <a:latin typeface="Courier New"/>
              </a:rPr>
              <a:t>    created = []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E6E9EF"/>
                </a:solidFill>
                <a:latin typeface="Courier New"/>
              </a:rPr>
              <a:t>    with _ticket_lock:       # no duplicates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E6E9EF"/>
                </a:solidFill>
                <a:latin typeface="Courier New"/>
              </a:rPr>
              <a:t>        for mid in municipality_ids: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E6E9EF"/>
                </a:solidFill>
                <a:latin typeface="Courier New"/>
              </a:rPr>
              <a:t>            active, _ = municipality_hazards(mid)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E6E9EF"/>
                </a:solidFill>
                <a:latin typeface="Courier New"/>
              </a:rPr>
              <a:t>            for h in active: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E6E9EF"/>
                </a:solidFill>
                <a:latin typeface="Courier New"/>
              </a:rPr>
              <a:t>                ready = h['detection_count'] &gt;= N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E6E9EF"/>
                </a:solidFill>
                <a:latin typeface="Courier New"/>
              </a:rPr>
              <a:t>                if ready and h['ticket'] is None: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E6E9EF"/>
                </a:solidFill>
                <a:latin typeface="Courier New"/>
              </a:rPr>
              <a:t>                    t = _raise_ticket(mid, h)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E6E9EF"/>
                </a:solidFill>
                <a:latin typeface="Courier New"/>
              </a:rPr>
              <a:t>                    created.append(t)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E6E9EF"/>
                </a:solidFill>
                <a:latin typeface="Courier New"/>
              </a:rPr>
              <a:t>    return created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30752"/>
            <a:ext cx="77724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55448" indent="-137160">
              <a:spcAft>
                <a:spcPts val="100"/>
              </a:spcAft>
              <a:buClr>
                <a:srgbClr val="0B4EA2"/>
              </a:buClr>
              <a:buFont typeface="Arial"/>
              <a:buChar char="•"/>
            </a:pPr>
            <a:r>
              <a:rPr sz="1100" b="0" i="0">
                <a:solidFill>
                  <a:srgbClr val="222630"/>
                </a:solidFill>
                <a:latin typeface="Calibri"/>
              </a:rPr>
              <a:t>Severity is computed on the vehicle, so only a finished number (0–100 %) is uploaded.</a:t>
            </a:r>
          </a:p>
          <a:p>
            <a:pPr algn="l" marL="155448" indent="-137160">
              <a:spcAft>
                <a:spcPts val="100"/>
              </a:spcAft>
              <a:buClr>
                <a:srgbClr val="0B4EA2"/>
              </a:buClr>
              <a:buFont typeface="Arial"/>
              <a:buChar char="•"/>
            </a:pPr>
            <a:r>
              <a:rPr sz="1100" b="0" i="0">
                <a:solidFill>
                  <a:srgbClr val="222630"/>
                </a:solidFill>
                <a:latin typeface="Calibri"/>
              </a:rPr>
              <a:t>Tickets are raised in a background task after each upload; the lock stops two uploads raising the same ticket.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457200"/>
            <a:ext cx="56235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B2A5E"/>
                </a:solidFill>
                <a:latin typeface="Cambria"/>
              </a:rPr>
              <a:t>Algorithm /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645152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466344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3931920" cy="3154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55448" indent="-137160">
              <a:spcAft>
                <a:spcPts val="600"/>
              </a:spcAft>
              <a:buClr>
                <a:srgbClr val="0B4EA2"/>
              </a:buClr>
              <a:buFont typeface="Arial"/>
              <a:buChar char="•"/>
            </a:pPr>
            <a:r>
              <a:rPr sz="1200" b="1" i="0">
                <a:solidFill>
                  <a:srgbClr val="1B2A5E"/>
                </a:solidFill>
                <a:latin typeface="Calibri"/>
              </a:rPr>
              <a:t>Algorithms used: </a:t>
            </a:r>
            <a:r>
              <a:rPr sz="1200" b="0" i="0">
                <a:solidFill>
                  <a:srgbClr val="222630"/>
                </a:solidFill>
                <a:latin typeface="Calibri"/>
              </a:rPr>
              <a:t>YOLOv8n (anchor-free, single-stage CNN detector), DBSCAN with haversine metric, Haversine distance, Gemini LLM for ticket text</a:t>
            </a:r>
          </a:p>
          <a:p>
            <a:pPr algn="l" marL="155448" indent="-137160">
              <a:spcAft>
                <a:spcPts val="600"/>
              </a:spcAft>
              <a:buClr>
                <a:srgbClr val="0B4EA2"/>
              </a:buClr>
              <a:buFont typeface="Arial"/>
              <a:buChar char="•"/>
            </a:pPr>
            <a:r>
              <a:rPr sz="1200" b="1" i="0">
                <a:solidFill>
                  <a:srgbClr val="1B2A5E"/>
                </a:solidFill>
                <a:latin typeface="Calibri"/>
              </a:rPr>
              <a:t>Dataset: </a:t>
            </a:r>
            <a:r>
              <a:rPr sz="1200" b="0" i="0">
                <a:solidFill>
                  <a:srgbClr val="222630"/>
                </a:solidFill>
                <a:latin typeface="Calibri"/>
              </a:rPr>
              <a:t>Roboflow pothole-detection (v9), ≈3,000 images, 3 classes (pothole, drain hole, sewer cover); 491 validation images</a:t>
            </a:r>
          </a:p>
          <a:p>
            <a:pPr algn="l" marL="155448" indent="-137160">
              <a:spcAft>
                <a:spcPts val="600"/>
              </a:spcAft>
              <a:buClr>
                <a:srgbClr val="0B4EA2"/>
              </a:buClr>
              <a:buFont typeface="Arial"/>
              <a:buChar char="•"/>
            </a:pPr>
            <a:r>
              <a:rPr sz="1200" b="1" i="0">
                <a:solidFill>
                  <a:srgbClr val="1B2A5E"/>
                </a:solidFill>
                <a:latin typeface="Calibri"/>
              </a:rPr>
              <a:t>Hard negatives: </a:t>
            </a:r>
            <a:r>
              <a:rPr sz="1200" b="0" i="0">
                <a:solidFill>
                  <a:srgbClr val="222630"/>
                </a:solidFill>
                <a:latin typeface="Calibri"/>
              </a:rPr>
              <a:t>434 detections from our own drives reviewed one by one; 254 tree shadows added as background images, plus synthetic shadow augmentation</a:t>
            </a:r>
          </a:p>
          <a:p>
            <a:pPr algn="l" marL="155448" indent="-137160">
              <a:spcAft>
                <a:spcPts val="600"/>
              </a:spcAft>
              <a:buClr>
                <a:srgbClr val="0B4EA2"/>
              </a:buClr>
              <a:buFont typeface="Arial"/>
              <a:buChar char="•"/>
            </a:pPr>
            <a:r>
              <a:rPr sz="1200" b="1" i="0">
                <a:solidFill>
                  <a:srgbClr val="1B2A5E"/>
                </a:solidFill>
                <a:latin typeface="Calibri"/>
              </a:rPr>
              <a:t>Input → Processing → Output: </a:t>
            </a:r>
            <a:r>
              <a:rPr sz="1200" b="0" i="0">
                <a:solidFill>
                  <a:srgbClr val="222630"/>
                </a:solidFill>
                <a:latin typeface="Calibri"/>
              </a:rPr>
              <a:t>phone video + GPS + motion → detect, score, filter, merge, route → pothole record, severity, office and repair ticket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143000"/>
            <a:ext cx="3657600" cy="310896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0" y="1216152"/>
            <a:ext cx="3383280" cy="3017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B2A5E"/>
                </a:solidFill>
                <a:latin typeface="Calibri"/>
              </a:rPr>
              <a:t>Mathematical model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2630"/>
                </a:solidFill>
                <a:latin typeface="Calibri"/>
              </a:rPr>
              <a:t>Severity on the vehicle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630"/>
                </a:solidFill>
                <a:latin typeface="Cambria"/>
              </a:rPr>
              <a:t>s = 0.55·(100c) + 0.45·min(8a, 100)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c = confidence, a = box area (% of frame); with a jolt: 0.6·s + 0.4·jolt score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2630"/>
                </a:solidFill>
                <a:latin typeface="Calibri"/>
              </a:rPr>
              <a:t>Haversine distance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630"/>
                </a:solidFill>
                <a:latin typeface="Cambria"/>
              </a:rPr>
              <a:t>a = sin²(Δφ/2) + cos φ₁·cos φ₂·sin²(Δλ/2)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630"/>
                </a:solidFill>
                <a:latin typeface="Cambria"/>
              </a:rPr>
              <a:t>d = 2R·atan2(√a, √(1−a)),  R = 6371 km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222630"/>
                </a:solidFill>
                <a:latin typeface="Calibri"/>
              </a:rPr>
              <a:t>Ticket rule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630"/>
                </a:solidFill>
                <a:latin typeface="Cambria"/>
              </a:rPr>
              <a:t>ticket if detections nᵢ ≥ N (N = 3) and no current ticket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457200"/>
            <a:ext cx="56235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B2A5E"/>
                </a:solidFill>
                <a:latin typeface="Cambria"/>
              </a:rPr>
              <a:t>Algorithm – Flowchart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645152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466344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pic>
        <p:nvPicPr>
          <p:cNvPr id="6" name="Picture 5" descr="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368" y="1115568"/>
            <a:ext cx="5868062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457200"/>
            <a:ext cx="56235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B2A5E"/>
                </a:solidFill>
                <a:latin typeface="Cambria"/>
              </a:rPr>
              <a:t>Implementation &amp;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645152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466344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1B2A5E"/>
                </a:solidFill>
                <a:latin typeface="Calibri"/>
              </a:rPr>
              <a:t>Input screen and live detection (field test near Anurag University)</a:t>
            </a:r>
          </a:p>
        </p:txBody>
      </p:sp>
      <p:pic>
        <p:nvPicPr>
          <p:cNvPr id="7" name="Picture 6" descr="image3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580" y="1353311"/>
            <a:ext cx="1645239" cy="2697480"/>
          </a:xfrm>
          <a:prstGeom prst="rect">
            <a:avLst/>
          </a:prstGeom>
          <a:ln w="9525">
            <a:solidFill>
              <a:srgbClr val="D3DAE6"/>
            </a:solidFill>
          </a:ln>
        </p:spPr>
      </p:pic>
      <p:pic>
        <p:nvPicPr>
          <p:cNvPr id="8" name="Picture 7" descr="image3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8210" y="1353312"/>
            <a:ext cx="4259178" cy="2697480"/>
          </a:xfrm>
          <a:prstGeom prst="rect">
            <a:avLst/>
          </a:prstGeom>
          <a:ln w="9525">
            <a:solidFill>
              <a:srgbClr val="D3DA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48640" y="4087368"/>
            <a:ext cx="75895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A6070"/>
                </a:solidFill>
                <a:latin typeface="Calibri"/>
              </a:rPr>
              <a:t>Left: phone sensor page on the windscreen (camera, GPS ±4 m, motion live). Right: YOLOv8n detection on the laptop (confidence 0.62), 13.8 fps.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457200"/>
            <a:ext cx="56235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B2A5E"/>
                </a:solidFill>
                <a:latin typeface="Cambria"/>
              </a:rPr>
              <a:t>Implementation &amp;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645152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466344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1B2A5E"/>
                </a:solidFill>
                <a:latin typeface="Calibri"/>
              </a:rPr>
              <a:t>Municipality registration (home screen of the dashboard)</a:t>
            </a:r>
          </a:p>
        </p:txBody>
      </p:sp>
      <p:pic>
        <p:nvPicPr>
          <p:cNvPr id="7" name="Picture 6" descr="image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915" y="1371600"/>
            <a:ext cx="6040968" cy="2697480"/>
          </a:xfrm>
          <a:prstGeom prst="rect">
            <a:avLst/>
          </a:prstGeom>
          <a:ln w="9525">
            <a:solidFill>
              <a:srgbClr val="D3DAE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4087368"/>
            <a:ext cx="7589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A6070"/>
                </a:solidFill>
                <a:latin typeface="Calibri"/>
              </a:rPr>
              <a:t>A municipality draws its area (centre + 800 m radius) and receives a private staff link.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457200"/>
            <a:ext cx="56235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B2A5E"/>
                </a:solidFill>
                <a:latin typeface="Cambria"/>
              </a:rPr>
              <a:t>Implementation &amp;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645152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466344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1B2A5E"/>
                </a:solidFill>
                <a:latin typeface="Calibri"/>
              </a:rPr>
              <a:t>Output: hazards, municipal office and automatic tickets</a:t>
            </a:r>
          </a:p>
        </p:txBody>
      </p:sp>
      <p:pic>
        <p:nvPicPr>
          <p:cNvPr id="7" name="Picture 6" descr="image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071" y="1371600"/>
            <a:ext cx="5940657" cy="2697480"/>
          </a:xfrm>
          <a:prstGeom prst="rect">
            <a:avLst/>
          </a:prstGeom>
          <a:ln w="9525">
            <a:solidFill>
              <a:srgbClr val="D3DAE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4087368"/>
            <a:ext cx="7589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A6070"/>
                </a:solidFill>
                <a:latin typeface="Calibri"/>
              </a:rPr>
              <a:t>13 clustered hazards, the office 0.24 km away (Haversine) and 2 tickets raised automatically after 3 detections.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457200"/>
            <a:ext cx="56235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B2A5E"/>
                </a:solidFill>
                <a:latin typeface="Cambria"/>
              </a:rPr>
              <a:t>Implementation &amp;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645152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466344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1B2A5E"/>
                </a:solidFill>
                <a:latin typeface="Calibri"/>
              </a:rPr>
              <a:t>Shadow review tool for retraining (hard-negative mining)</a:t>
            </a:r>
          </a:p>
        </p:txBody>
      </p:sp>
      <p:pic>
        <p:nvPicPr>
          <p:cNvPr id="7" name="Picture 6" descr="rv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58210"/>
            <a:ext cx="4937760" cy="2524259"/>
          </a:xfrm>
          <a:prstGeom prst="rect">
            <a:avLst/>
          </a:prstGeom>
          <a:ln w="9525">
            <a:solidFill>
              <a:srgbClr val="D3DAE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669280" y="1417320"/>
            <a:ext cx="2606040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55448" indent="-137160">
              <a:spcAft>
                <a:spcPts val="500"/>
              </a:spcAft>
              <a:buClr>
                <a:srgbClr val="0B4EA2"/>
              </a:buClr>
              <a:buFont typeface="Arial"/>
              <a:buChar char="•"/>
            </a:pPr>
            <a:r>
              <a:rPr sz="1100" b="0" i="0">
                <a:solidFill>
                  <a:srgbClr val="222630"/>
                </a:solidFill>
                <a:latin typeface="Calibri"/>
              </a:rPr>
              <a:t>Shows every frame where the model fired, one by one</a:t>
            </a:r>
          </a:p>
          <a:p>
            <a:pPr algn="l" marL="155448" indent="-137160">
              <a:spcAft>
                <a:spcPts val="500"/>
              </a:spcAft>
              <a:buClr>
                <a:srgbClr val="0B4EA2"/>
              </a:buClr>
              <a:buFont typeface="Arial"/>
              <a:buChar char="•"/>
            </a:pPr>
            <a:r>
              <a:rPr sz="1100" b="0" i="0">
                <a:solidFill>
                  <a:srgbClr val="222630"/>
                </a:solidFill>
                <a:latin typeface="Calibri"/>
              </a:rPr>
              <a:t>D = real pothole (moved aside), K = shadow (kept)</a:t>
            </a:r>
          </a:p>
          <a:p>
            <a:pPr algn="l" marL="155448" indent="-137160">
              <a:spcAft>
                <a:spcPts val="500"/>
              </a:spcAft>
              <a:buClr>
                <a:srgbClr val="0B4EA2"/>
              </a:buClr>
              <a:buFont typeface="Arial"/>
              <a:buChar char="•"/>
            </a:pPr>
            <a:r>
              <a:rPr sz="1100" b="0" i="0">
                <a:solidFill>
                  <a:srgbClr val="222630"/>
                </a:solidFill>
                <a:latin typeface="Calibri"/>
              </a:rPr>
              <a:t>Shadow frames become background images: the model learns they are not potholes</a:t>
            </a:r>
          </a:p>
          <a:p>
            <a:pPr algn="l" marL="155448" indent="-137160">
              <a:spcAft>
                <a:spcPts val="500"/>
              </a:spcAft>
              <a:buClr>
                <a:srgbClr val="0B4EA2"/>
              </a:buClr>
              <a:buFont typeface="Arial"/>
              <a:buChar char="•"/>
            </a:pPr>
            <a:r>
              <a:rPr sz="1100" b="0" i="0">
                <a:solidFill>
                  <a:srgbClr val="222630"/>
                </a:solidFill>
                <a:latin typeface="Calibri"/>
              </a:rPr>
              <a:t>434 frames reviewed: 180 potholes, 254 shadows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457200"/>
            <a:ext cx="56235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B2A5E"/>
                </a:solidFill>
                <a:latin typeface="Cambria"/>
              </a:rPr>
              <a:t>Results /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645152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466344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68680" cy="86868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8686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0B4EA2"/>
                </a:solidFill>
                <a:latin typeface="Calibri"/>
              </a:rPr>
              <a:t>0.882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868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Precision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1143000"/>
            <a:ext cx="868680" cy="86868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463040" y="1188720"/>
            <a:ext cx="8686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0B4EA2"/>
                </a:solidFill>
                <a:latin typeface="Calibri"/>
              </a:rPr>
              <a:t>0.852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45920"/>
            <a:ext cx="868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Recall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1143000"/>
            <a:ext cx="868680" cy="86868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423160" y="1188720"/>
            <a:ext cx="8686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0B4EA2"/>
                </a:solidFill>
                <a:latin typeface="Calibri"/>
              </a:rPr>
              <a:t>0.867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645920"/>
            <a:ext cx="868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F1-score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1143000"/>
            <a:ext cx="868680" cy="86868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383280" y="1188720"/>
            <a:ext cx="8686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0B4EA2"/>
                </a:solidFill>
                <a:latin typeface="Calibri"/>
              </a:rPr>
              <a:t>0.897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645920"/>
            <a:ext cx="868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mAP@0.5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148840"/>
            <a:ext cx="3840480" cy="2148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55448" indent="-137160">
              <a:spcAft>
                <a:spcPts val="400"/>
              </a:spcAft>
              <a:buClr>
                <a:srgbClr val="0B4EA2"/>
              </a:buClr>
              <a:buFont typeface="Arial"/>
              <a:buChar char="•"/>
            </a:pPr>
            <a:r>
              <a:rPr sz="1100" b="1" i="0">
                <a:solidFill>
                  <a:srgbClr val="1B2A5E"/>
                </a:solidFill>
                <a:latin typeface="Calibri"/>
              </a:rPr>
              <a:t>Training: </a:t>
            </a:r>
            <a:r>
              <a:rPr sz="1100" b="0" i="0">
                <a:solidFill>
                  <a:srgbClr val="222630"/>
                </a:solidFill>
                <a:latin typeface="Calibri"/>
              </a:rPr>
              <a:t>60 epochs, ≈28 min on RTX 4060; best epoch 51; 491 validation images</a:t>
            </a:r>
          </a:p>
          <a:p>
            <a:pPr algn="l" marL="155448" indent="-137160">
              <a:spcAft>
                <a:spcPts val="400"/>
              </a:spcAft>
              <a:buClr>
                <a:srgbClr val="0B4EA2"/>
              </a:buClr>
              <a:buFont typeface="Arial"/>
              <a:buChar char="•"/>
            </a:pPr>
            <a:r>
              <a:rPr sz="1100" b="1" i="0">
                <a:solidFill>
                  <a:srgbClr val="1B2A5E"/>
                </a:solidFill>
                <a:latin typeface="Calibri"/>
              </a:rPr>
              <a:t>Field drive: </a:t>
            </a:r>
            <a:r>
              <a:rPr sz="1100" b="0" i="0">
                <a:solidFill>
                  <a:srgbClr val="222630"/>
                </a:solidFill>
                <a:latin typeface="Calibri"/>
              </a:rPr>
              <a:t>13.8 fps, GPS ±4 m, 22 detections → 13 potholes, 2 automatic tickets</a:t>
            </a:r>
          </a:p>
          <a:p>
            <a:pPr algn="l" marL="155448" indent="-137160">
              <a:spcAft>
                <a:spcPts val="400"/>
              </a:spcAft>
              <a:buClr>
                <a:srgbClr val="0B4EA2"/>
              </a:buClr>
              <a:buFont typeface="Arial"/>
              <a:buChar char="•"/>
            </a:pPr>
            <a:r>
              <a:rPr sz="1100" b="1" i="0">
                <a:solidFill>
                  <a:srgbClr val="1B2A5E"/>
                </a:solidFill>
                <a:latin typeface="Calibri"/>
              </a:rPr>
              <a:t>Fleet simulator: </a:t>
            </a:r>
            <a:r>
              <a:rPr sz="1100" b="0" i="0">
                <a:solidFill>
                  <a:srgbClr val="222630"/>
                </a:solidFill>
                <a:latin typeface="Calibri"/>
              </a:rPr>
              <a:t>48 reports → 47 accepted, 1 outside every municipality rejected</a:t>
            </a:r>
          </a:p>
          <a:p>
            <a:pPr algn="l" marL="155448" indent="-137160">
              <a:spcAft>
                <a:spcPts val="400"/>
              </a:spcAft>
              <a:buClr>
                <a:srgbClr val="0B4EA2"/>
              </a:buClr>
              <a:buFont typeface="Arial"/>
              <a:buChar char="•"/>
            </a:pPr>
            <a:r>
              <a:rPr sz="1100" b="1" i="0">
                <a:solidFill>
                  <a:srgbClr val="1B2A5E"/>
                </a:solidFill>
                <a:latin typeface="Calibri"/>
              </a:rPr>
              <a:t>Repairs: </a:t>
            </a:r>
            <a:r>
              <a:rPr sz="1100" b="0" i="0">
                <a:solidFill>
                  <a:srgbClr val="222630"/>
                </a:solidFill>
                <a:latin typeface="Calibri"/>
              </a:rPr>
              <a:t>a pothole detected after repair is shown as REOPENED</a:t>
            </a:r>
          </a:p>
        </p:txBody>
      </p:sp>
      <p:pic>
        <p:nvPicPr>
          <p:cNvPr id="19" name="Picture 18" descr="fi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686153"/>
            <a:ext cx="3840480" cy="1382572"/>
          </a:xfrm>
          <a:prstGeom prst="rect">
            <a:avLst/>
          </a:prstGeom>
          <a:ln w="9525">
            <a:solidFill>
              <a:srgbClr val="D3DAE6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4480560" y="3611880"/>
            <a:ext cx="384048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Training curves: losses fall steadily; mAP@0.5 levels off near 0.9 (best epoch 51).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457200"/>
            <a:ext cx="56235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B2A5E"/>
                </a:solidFill>
                <a:latin typeface="Cambria"/>
              </a:rPr>
              <a:t>Results –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645152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466344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4571997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4307"/>
                <a:gridCol w="879230"/>
                <a:gridCol w="1055076"/>
                <a:gridCol w="703384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Manual survey / complaints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Detection-only research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EcoRoads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2630"/>
                          </a:solidFill>
                          <a:latin typeface="Calibri"/>
                        </a:rPr>
                        <a:t>Real-time detection from a phone camera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8102E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some (others need laser / stereo)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E7B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2630"/>
                          </a:solidFill>
                          <a:latin typeface="Calibri"/>
                        </a:rPr>
                        <a:t>Works offline, no images uploaded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8102E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E7B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2630"/>
                          </a:solidFill>
                          <a:latin typeface="Calibri"/>
                        </a:rPr>
                        <a:t>Merges repeat reports (DBSCAN)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8102E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8102E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E7B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2630"/>
                          </a:solidFill>
                          <a:latin typeface="Calibri"/>
                        </a:rPr>
                        <a:t>Routes to the responsible office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manual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8102E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E7B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2630"/>
                          </a:solidFill>
                          <a:latin typeface="Calibri"/>
                        </a:rPr>
                        <a:t>Automatic repair ticket (LLM)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8102E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8102E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E7B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22630"/>
                          </a:solidFill>
                          <a:latin typeface="Calibri"/>
                        </a:rPr>
                        <a:t>Repair tracking + reopening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manual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8102E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E7B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03520" y="1115568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2A5E"/>
                </a:solidFill>
                <a:latin typeface="Calibri"/>
              </a:rPr>
              <a:t>Shadow retraining (validation)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03520" y="1417320"/>
          <a:ext cx="297179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162"/>
                <a:gridCol w="835818"/>
                <a:gridCol w="835818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After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630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630"/>
                          </a:solidFill>
                          <a:latin typeface="Calibri"/>
                        </a:rPr>
                        <a:t>0.882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630"/>
                          </a:solidFill>
                          <a:latin typeface="Calibri"/>
                        </a:rPr>
                        <a:t>0.920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630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630"/>
                          </a:solidFill>
                          <a:latin typeface="Calibri"/>
                        </a:rPr>
                        <a:t>0.852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630"/>
                          </a:solidFill>
                          <a:latin typeface="Calibri"/>
                        </a:rPr>
                        <a:t>0.867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630"/>
                          </a:solidFill>
                          <a:latin typeface="Calibri"/>
                        </a:rPr>
                        <a:t>mAP@0.5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630"/>
                          </a:solidFill>
                          <a:latin typeface="Calibri"/>
                        </a:rPr>
                        <a:t>0.897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630"/>
                          </a:solidFill>
                          <a:latin typeface="Calibri"/>
                        </a:rPr>
                        <a:t>0.902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630"/>
                          </a:solidFill>
                          <a:latin typeface="Calibri"/>
                        </a:rPr>
                        <a:t>mAP@0.5:0.95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630"/>
                          </a:solidFill>
                          <a:latin typeface="Calibri"/>
                        </a:rPr>
                        <a:t>0.595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22630"/>
                          </a:solidFill>
                          <a:latin typeface="Calibri"/>
                        </a:rPr>
                        <a:t>0.582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303520" y="2971800"/>
            <a:ext cx="301752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070"/>
                </a:solidFill>
                <a:latin typeface="Calibri"/>
              </a:rPr>
              <a:t>After adding 254 shadow frames and synthetic shadows, precision rose by 3.8 points with recall slightly higher: fewer false alarms without losing real potholes. (The new validation set also holds held-out shadow frames.)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457200"/>
            <a:ext cx="56235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B2A5E"/>
                </a:solidFill>
                <a:latin typeface="Cambria"/>
              </a:rP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645152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466344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15568"/>
          <a:ext cx="8092438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720"/>
                <a:gridCol w="1448646"/>
                <a:gridCol w="2147993"/>
                <a:gridCol w="1748366"/>
                <a:gridCol w="1848273"/>
                <a:gridCol w="59944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Test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Expected output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Actual output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1B2A5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Pothole detection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Road frame with a pothole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Pothole logged with severity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Logged (confidence 0.62)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E7B4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Shadow rejection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Tree shadow, moving, no bump, conf &lt; 0.7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Event dropped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Dropped as 'likely a shadow'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E7B4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Offline storage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Network off during drive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Saved in SQLite, synced later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0 left waiting after sync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E7B4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Outside boundary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Report outside every municipality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1 of 48 rejected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E7B4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Duplicate merge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Repeat reports within 15 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One pothole cluster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22 detections → 13 potholes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E7B4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Auto ticket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3rd detection of a pothole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One ticket to the office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Ticket raised once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E7B4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LLM fallback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Gemini key missing / error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Template ticket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Template ticket created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E7B4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Reopen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Detection after 'repaired'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Status REOPENED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22630"/>
                          </a:solidFill>
                          <a:latin typeface="Calibri"/>
                        </a:rPr>
                        <a:t>Shown as REOPENED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E7B4A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C5CEDD"/>
                      </a:solidFill>
                    </a:lnL>
                    <a:lnR w="6350">
                      <a:solidFill>
                        <a:srgbClr val="C5CEDD"/>
                      </a:solidFill>
                    </a:lnR>
                    <a:lnT w="6350">
                      <a:solidFill>
                        <a:srgbClr val="C5CEDD"/>
                      </a:solidFill>
                    </a:lnT>
                    <a:lnB w="6350">
                      <a:solidFill>
                        <a:srgbClr val="C5CEDD"/>
                      </a:solidFill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160520"/>
            <a:ext cx="73152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B2A5E"/>
                </a:solidFill>
                <a:latin typeface="Calibri"/>
              </a:rPr>
              <a:t>Automated tests: </a:t>
            </a:r>
            <a:r>
              <a:rPr sz="1100" b="0" i="0">
                <a:solidFill>
                  <a:srgbClr val="222630"/>
                </a:solidFill>
                <a:latin typeface="Calibri"/>
              </a:rPr>
              <a:t>28 cloud tests (SQLite + PostgreSQL) and 26 edge tests pass with pytest.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457200"/>
            <a:ext cx="56235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B2A5E"/>
                </a:solidFill>
                <a:latin typeface="Cambria"/>
              </a:rP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645152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466344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70432"/>
            <a:ext cx="3794760" cy="306324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640080" y="1298448"/>
            <a:ext cx="384048" cy="384048"/>
          </a:xfrm>
          <a:prstGeom prst="ellipse">
            <a:avLst/>
          </a:prstGeom>
          <a:solidFill>
            <a:srgbClr val="1E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70" y="1382938"/>
            <a:ext cx="215066" cy="215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" y="1298448"/>
            <a:ext cx="309067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5E"/>
                </a:solidFill>
                <a:latin typeface="Calibri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737360"/>
            <a:ext cx="3575304" cy="2423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100" b="1" i="0">
                <a:solidFill>
                  <a:srgbClr val="1B2A5E"/>
                </a:solidFill>
                <a:latin typeface="Calibri"/>
              </a:rPr>
              <a:t>Achievement: </a:t>
            </a:r>
            <a:r>
              <a:rPr sz="1100" b="0" i="0">
                <a:solidFill>
                  <a:srgbClr val="222630"/>
                </a:solidFill>
                <a:latin typeface="Calibri"/>
              </a:rPr>
              <a:t>a working camera-to-ticket pipeline with no manual steps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100" b="1" i="0">
                <a:solidFill>
                  <a:srgbClr val="1B2A5E"/>
                </a:solidFill>
                <a:latin typeface="Calibri"/>
              </a:rPr>
              <a:t>Outcome: </a:t>
            </a:r>
            <a:r>
              <a:rPr sz="1100" b="0" i="0">
                <a:solidFill>
                  <a:srgbClr val="222630"/>
                </a:solidFill>
                <a:latin typeface="Calibri"/>
              </a:rPr>
              <a:t>mAP@0.5 0.897; deployed on Render + Neon; field drive raised 2 tickets automatically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100" b="1" i="0">
                <a:solidFill>
                  <a:srgbClr val="1B2A5E"/>
                </a:solidFill>
                <a:latin typeface="Calibri"/>
              </a:rPr>
              <a:t>Benefits: </a:t>
            </a:r>
            <a:r>
              <a:rPr sz="1100" b="0" i="0">
                <a:solidFill>
                  <a:srgbClr val="222630"/>
                </a:solidFill>
                <a:latin typeface="Calibri"/>
              </a:rPr>
              <a:t>faster repairs, one record per pothole, the right office every time, low-cost hardware, no images leave the vehicle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170432"/>
            <a:ext cx="3794760" cy="306324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617720" y="1298448"/>
            <a:ext cx="384048" cy="384048"/>
          </a:xfrm>
          <a:prstGeom prst="ellipse">
            <a:avLst/>
          </a:prstGeom>
          <a:solidFill>
            <a:srgbClr val="0B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210" y="1382938"/>
            <a:ext cx="215066" cy="2150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93208" y="1298448"/>
            <a:ext cx="3090672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5E"/>
                </a:solidFill>
                <a:latin typeface="Calibri"/>
              </a:rPr>
              <a:t>Future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737360"/>
            <a:ext cx="3575304" cy="2423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100" b="0" i="0">
                <a:solidFill>
                  <a:srgbClr val="222630"/>
                </a:solidFill>
                <a:latin typeface="Calibri"/>
              </a:rPr>
              <a:t>Depth / volume estimation for better severity grading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100" b="0" i="0">
                <a:solidFill>
                  <a:srgbClr val="222630"/>
                </a:solidFill>
                <a:latin typeface="Calibri"/>
              </a:rPr>
              <a:t>Run on Jetson or Raspberry Pi with ONNX and 4G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100" b="0" i="0">
                <a:solidFill>
                  <a:srgbClr val="222630"/>
                </a:solidFill>
                <a:latin typeface="Calibri"/>
              </a:rPr>
              <a:t>Ward polygons and road-network distances instead of circles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100" b="0" i="0">
                <a:solidFill>
                  <a:srgbClr val="222630"/>
                </a:solidFill>
                <a:latin typeface="Calibri"/>
              </a:rPr>
              <a:t>Prioritise repairs by traffic, road type and weather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100" b="0" i="0">
                <a:solidFill>
                  <a:srgbClr val="222630"/>
                </a:solidFill>
                <a:latin typeface="Calibri"/>
              </a:rPr>
              <a:t>Detect cracks; improve night and wet-road accuracy</a:t>
            </a:r>
          </a:p>
          <a:p>
            <a:pPr algn="l" marL="155448" indent="-137160">
              <a:spcAft>
                <a:spcPts val="300"/>
              </a:spcAft>
              <a:buClr>
                <a:srgbClr val="0B4EA2"/>
              </a:buClr>
              <a:buFont typeface="Arial"/>
              <a:buChar char="•"/>
            </a:pPr>
            <a:r>
              <a:rPr sz="1100" b="0" i="0">
                <a:solidFill>
                  <a:srgbClr val="222630"/>
                </a:solidFill>
                <a:latin typeface="Calibri"/>
              </a:rPr>
              <a:t>Link tickets to municipal work-order systems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457200"/>
            <a:ext cx="56235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B2A5E"/>
                </a:solidFill>
                <a:latin typeface="Cambria"/>
              </a:rPr>
              <a:t>References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645152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466344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7680960" cy="3108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1B2A5E"/>
                </a:solidFill>
                <a:latin typeface="Calibri"/>
              </a:rPr>
              <a:t>[1]  </a:t>
            </a:r>
            <a:r>
              <a:rPr sz="1100" b="0" i="0">
                <a:solidFill>
                  <a:srgbClr val="222630"/>
                </a:solidFill>
                <a:latin typeface="Calibri"/>
              </a:rPr>
              <a:t>T. Zhao, L. Yang, Y. Xie, M. Ding, M. Tomizuka and Y. Wei, “RoadBEV: Road Surface Reconstruction in Bird’s Eye View,” IEEE Trans. Intelligent Transportation Systems, vol. 25, no. 11, pp. 19088–19099, 2024.</a:t>
            </a:r>
          </a:p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1B2A5E"/>
                </a:solidFill>
                <a:latin typeface="Calibri"/>
              </a:rPr>
              <a:t>[2]  </a:t>
            </a:r>
            <a:r>
              <a:rPr sz="1100" b="0" i="0">
                <a:solidFill>
                  <a:srgbClr val="222630"/>
                </a:solidFill>
                <a:latin typeface="Calibri"/>
              </a:rPr>
              <a:t>R. Ali, Q. Bin Saeed, O. Buyukozturk, S. Lee and Y. Cha, “Monocular Computer Vision-Based Simultaneous Pothole Segmentation and 3-D Volume Prediction Using 3DpredicNet,” IEEE Trans. Industrial Informatics, 2026.</a:t>
            </a:r>
          </a:p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1B2A5E"/>
                </a:solidFill>
                <a:latin typeface="Calibri"/>
              </a:rPr>
              <a:t>[3]  </a:t>
            </a:r>
            <a:r>
              <a:rPr sz="1100" b="0" i="0">
                <a:solidFill>
                  <a:srgbClr val="222630"/>
                </a:solidFill>
                <a:latin typeface="Calibri"/>
              </a:rPr>
              <a:t>X. Huang, J. Cheng, Q. Xiang, J. Dong, J. Wu, R. Fan and X. Tang, “LEPS: A Lightweight and Effective Single-Stage Detector for Pothole Segmentation,” IEEE Sensors Journal, 2024.</a:t>
            </a:r>
          </a:p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1B2A5E"/>
                </a:solidFill>
                <a:latin typeface="Calibri"/>
              </a:rPr>
              <a:t>[4]  </a:t>
            </a:r>
            <a:r>
              <a:rPr sz="1100" b="0" i="0">
                <a:solidFill>
                  <a:srgbClr val="222630"/>
                </a:solidFill>
                <a:latin typeface="Calibri"/>
              </a:rPr>
              <a:t>A. Wang, H. Lang, Z. Chen, Y. Peng, S. Ding and J. J. Lu, “The Two-Step Method of Pavement Pothole and Raveling Detection and Segmentation Based on Deep Learning,” IEEE Trans. ITS, vol. 25, no. 6, 2024.</a:t>
            </a:r>
          </a:p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1B2A5E"/>
                </a:solidFill>
                <a:latin typeface="Calibri"/>
              </a:rPr>
              <a:t>[5]  </a:t>
            </a:r>
            <a:r>
              <a:rPr sz="1100" b="0" i="0">
                <a:solidFill>
                  <a:srgbClr val="222630"/>
                </a:solidFill>
                <a:latin typeface="Calibri"/>
              </a:rPr>
              <a:t>S. Guo, J. Li, Y. Feng, D. Zhou, D. Zhang, C. Chen, S. Su, X. Zhu, Q. Chen and R. Fan, “UDTIRI: An Online Open-Source Intelligent Road Inspection Benchmark Suite,” IEEE Trans. ITS, vol. 25, no. 8, 2024.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4440" y="457200"/>
            <a:ext cx="562356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B2A5E"/>
                </a:solidFill>
                <a:latin typeface="Cambria"/>
              </a:rPr>
              <a:t>References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4645152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85632" y="466344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7680960" cy="3108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1B2A5E"/>
                </a:solidFill>
                <a:latin typeface="Calibri"/>
              </a:rPr>
              <a:t>[6]  </a:t>
            </a:r>
            <a:r>
              <a:rPr sz="1100" b="0" i="0">
                <a:solidFill>
                  <a:srgbClr val="222630"/>
                </a:solidFill>
                <a:latin typeface="Calibri"/>
              </a:rPr>
              <a:t>J. Redmon, S. Divvala, R. Girshick and A. Farhadi, “You Only Look Once: Unified, Real-Time Object Detection,” Proc. IEEE CVPR, pp. 779–788, 2016.</a:t>
            </a:r>
          </a:p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1B2A5E"/>
                </a:solidFill>
                <a:latin typeface="Calibri"/>
              </a:rPr>
              <a:t>[7]  </a:t>
            </a:r>
            <a:r>
              <a:rPr sz="1100" b="0" i="0">
                <a:solidFill>
                  <a:srgbClr val="222630"/>
                </a:solidFill>
                <a:latin typeface="Calibri"/>
              </a:rPr>
              <a:t>G. Jocher, A. Chaurasia and J. Qiu, “Ultralytics YOLOv8,” version 8.0.0, 2023. https://github.com/ultralytics/ultralytics</a:t>
            </a:r>
          </a:p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1B2A5E"/>
                </a:solidFill>
                <a:latin typeface="Calibri"/>
              </a:rPr>
              <a:t>[8]  </a:t>
            </a:r>
            <a:r>
              <a:rPr sz="1100" b="0" i="0">
                <a:solidFill>
                  <a:srgbClr val="222630"/>
                </a:solidFill>
                <a:latin typeface="Calibri"/>
              </a:rPr>
              <a:t>M. Ester, H.-P. Kriegel, J. Sander and X. Xu, “A Density-Based Algorithm for Discovering Clusters in Large Spatial Databases with Noise,” Proc. KDD, pp. 226–231, 1996.</a:t>
            </a:r>
          </a:p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1B2A5E"/>
                </a:solidFill>
                <a:latin typeface="Calibri"/>
              </a:rPr>
              <a:t>[9]  </a:t>
            </a:r>
            <a:r>
              <a:rPr sz="1100" b="0" i="0">
                <a:solidFill>
                  <a:srgbClr val="222630"/>
                </a:solidFill>
                <a:latin typeface="Calibri"/>
              </a:rPr>
              <a:t>Gemini Team, Google, “Gemini: A Family of Highly Capable Multimodal Models,” arXiv:2312.11805, 2023.</a:t>
            </a:r>
          </a:p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1B2A5E"/>
                </a:solidFill>
                <a:latin typeface="Calibri"/>
              </a:rPr>
              <a:t>[10]  </a:t>
            </a:r>
            <a:r>
              <a:rPr sz="1100" b="0" i="0">
                <a:solidFill>
                  <a:srgbClr val="222630"/>
                </a:solidFill>
                <a:latin typeface="Calibri"/>
              </a:rPr>
              <a:t>OpenStreetMap contributors, “OpenStreetMap” and “Overpass API,” https://www.openstreetmap.org, accessed 2026.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0" y="4645152"/>
            <a:ext cx="40233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5A6070"/>
                </a:solidFill>
                <a:latin typeface="Calibri"/>
              </a:rPr>
              <a:t>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85632" y="466344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26</a:t>
            </a:r>
          </a:p>
        </p:txBody>
      </p:sp>
      <p:sp>
        <p:nvSpPr>
          <p:cNvPr id="5" name="Oval 4"/>
          <p:cNvSpPr/>
          <p:nvPr/>
        </p:nvSpPr>
        <p:spPr>
          <a:xfrm>
            <a:off x="3977639" y="1417320"/>
            <a:ext cx="685800" cy="685800"/>
          </a:xfrm>
          <a:prstGeom prst="ellipse">
            <a:avLst/>
          </a:prstGeom>
          <a:solidFill>
            <a:srgbClr val="E3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515" y="1568196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2240280"/>
            <a:ext cx="60350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1B2A5E"/>
                </a:solidFill>
                <a:latin typeface="Cambria"/>
              </a:rPr>
              <a:t>Queries?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63240"/>
            <a:ext cx="60350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1">
                <a:solidFill>
                  <a:srgbClr val="5A6070"/>
                </a:solidFill>
                <a:latin typeface="Calibri"/>
              </a:rPr>
              <a:t>Thank you for your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